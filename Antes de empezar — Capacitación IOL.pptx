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abriel Schurrer" userId="77d581cfa675a268" providerId="LiveId" clId="{9259A6AA-8421-4BAE-8D64-4975BE1ECBA6}"/>
    <pc:docChg chg="modSld">
      <pc:chgData name="Gabriel Schurrer" userId="77d581cfa675a268" providerId="LiveId" clId="{9259A6AA-8421-4BAE-8D64-4975BE1ECBA6}" dt="2026-10-09T22:17:50.351" v="17" actId="20577"/>
      <pc:docMkLst>
        <pc:docMk/>
      </pc:docMkLst>
      <pc:sldChg chg="modSp mod">
        <pc:chgData name="Gabriel Schurrer" userId="77d581cfa675a268" providerId="LiveId" clId="{9259A6AA-8421-4BAE-8D64-4975BE1ECBA6}" dt="2026-10-09T22:17:50.351" v="17" actId="20577"/>
        <pc:sldMkLst>
          <pc:docMk/>
          <pc:sldMk cId="0" sldId="257"/>
        </pc:sldMkLst>
        <pc:spChg chg="mod">
          <ac:chgData name="Gabriel Schurrer" userId="77d581cfa675a268" providerId="LiveId" clId="{9259A6AA-8421-4BAE-8D64-4975BE1ECBA6}" dt="2026-10-09T22:17:45.533" v="11" actId="1076"/>
          <ac:spMkLst>
            <pc:docMk/>
            <pc:sldMk cId="0" sldId="257"/>
            <ac:spMk id="10" creationId="{00000000-0000-0000-0000-000000000000}"/>
          </ac:spMkLst>
        </pc:spChg>
        <pc:spChg chg="mod">
          <ac:chgData name="Gabriel Schurrer" userId="77d581cfa675a268" providerId="LiveId" clId="{9259A6AA-8421-4BAE-8D64-4975BE1ECBA6}" dt="2026-10-09T22:17:50.351" v="17" actId="20577"/>
          <ac:spMkLst>
            <pc:docMk/>
            <pc:sldMk cId="0" sldId="257"/>
            <ac:spMk id="14" creationId="{00000000-0000-0000-0000-000000000000}"/>
          </ac:spMkLst>
        </pc:spChg>
      </pc:sldChg>
      <pc:sldChg chg="modSp mod">
        <pc:chgData name="Gabriel Schurrer" userId="77d581cfa675a268" providerId="LiveId" clId="{9259A6AA-8421-4BAE-8D64-4975BE1ECBA6}" dt="2026-10-09T22:12:49.803" v="4" actId="1037"/>
        <pc:sldMkLst>
          <pc:docMk/>
          <pc:sldMk cId="0" sldId="265"/>
        </pc:sldMkLst>
        <pc:spChg chg="mod">
          <ac:chgData name="Gabriel Schurrer" userId="77d581cfa675a268" providerId="LiveId" clId="{9259A6AA-8421-4BAE-8D64-4975BE1ECBA6}" dt="2026-10-09T22:12:49.803" v="4" actId="1037"/>
          <ac:spMkLst>
            <pc:docMk/>
            <pc:sldMk cId="0" sldId="265"/>
            <ac:spMk id="14"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430946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Bienvenida. Esta es una guía corta para leer antes de entrar al simulador: en pocos minutos van a saber qué van a aprender, qué queda afuera y cómo se usa la herramienta. La franja amarilla de arriba es la misma que van a ver en el simulador, y está ahí para recordar que todo es de práctica: la plata, los precios y las cuentas son ficticios. El círculo de la derecha adelanta la idea central: una inversión es un ciclo que empieza y termina con la plata disponible.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guía tiene tres partes. Primero, qué es esta capacitación y para quién está pensada. Después, qué van a aprender y qué queda afuera. Y al final, cómo se usa el simulador: los itinerarios, la guía que los va llevando y los otros materiales que tienen a mano. Pueden volver a esta diapositiva cuando quieran ubicarse.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Esto conviene dejarlo claro de entrada. La capacitación enseña a usar la aplicación: dónde está cada cosa, cómo se manda una orden, cuándo está disponible la plata. No les vamos a decir en qué invertir ni qué comprar: esa decisión es de cada uno. Por eso damos por hecho que ya saben qué es un CEDEAR (un certificado que representa acciones de una empresa del exterior), un bono o el dólar MEP. Y todo lo que hagan es de práctica: la plata es ficticia, los precios son simulados y los tiempos están acelerados, así que equivocarse no cuesta nada.</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Esto es todo lo que van a recorrer. Empieza cuando ingresan plata desde su banco a la cuenta de inversión. Con esos pesos pueden comprar dólar MEP, que por dentro son dos operaciones de bonos, y después comprar acciones, CEDEARs u obligaciones negociables. Mientras tienen la inversión, la siguen desde el portafolio. Cuando venden, la plata no queda disponible al instante: hay que esperar un día hábil a que se liquide. Recién ahí la pueden retirar, y solo a una cuenta a su nombre. El ciclo termina donde empezó: con la plata disponible. Los códigos M2 a M7 son los módulos de la capacitación; los van a ver en cada itinerario.</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aplicación real tiene muchas más cosas de las que vamos a ver, y no queremos esconderlas. En el simulador están todos los botones, pero los que no entran en esta capacitación tienen la marca «fuera de alcance». Si les hacen clic no pasa nada malo: aparece un cartel que explica qué son y por qué no los vemos. Por ejemplo, la cuenta de Estados Unidos queda afuera porque, para invertir en empresas del exterior, acá usamos CEDEARs, que se compran en pesos desde la cuenta argentina. Y abrir la cuenta queda afuera porque es un paso anterior: arrancan con la cuenta ya abierta.</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 se llevan una sola idea, que sea esta. En la cuenta de inversión la plata puede estar en tres estados. Disponible: la pueden usar ya, para comprar o para retirar. Comprometida: está reservada por una orden que mandaron y que todavía no se ejecutó, así que no la pueden usar para otra cosa. Y a liquidar: es lo que cobran por una venta. Ya figura en la cuenta, pero recién al día hábil siguiente pasa a disponible. Mientras tanto la pueden reinvertir a 24 horas, pero no retirarla. Lo van a ver en el Estado de cuenta, desplegando «Detalle de saldos».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Cuando hacen clic en «Iniciar capacitación», el simulador les pregunta para qué se quieren capacitar. Hay seis itinerarios. Cuatro recorren un tramo del ciclo, y duran entre seis y siete minutos. Si es la primera vez, recomendamos el ciclo completo: son unos dieciocho minutos y pasan por todo, de punta a punta. Y si ya lo hicieron y quieren practicar solos, está «Explorar por mi cuenta», que arranca con pesos y dólares en la cuenta y sin guía. Pueden cambiar de itinerario cuando quieran.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vez que eligen el itinerario, la guía hace el trabajo de orientarlos. La pantalla se oscurece y queda iluminado solo el botón que tienen que tocar. La guía no avanza sola: espera a que ustedes hagan el clic, porque la idea es que lo hagan con sus manos, igual que en la aplicación real. Cuando hay algo para leer, aparece el botón «Siguiente», y con «Salir de la guía» la dejan cuando quieran. Un detalle importante: en el mercado real, lo que venden se cobra al día hábil siguiente. Para no hacerlos esperar, arriba hay una franja amarilla con el botón «Avanzar 1 día hábil»: lo tocan y el reloj del simulador pasa al día siguiente.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Esto puede sorprender: en algunos momentos la guía les va a pedir que hagan algo mal a propósito. Por ejemplo, ingresar plata desde la cuenta de otra persona, comprar una cantidad que no respeta la lámina mínima de una obligación negociable, o retirar la plata de una venta que todavía no liquidó. No es un error de ustedes: es la forma más rápida de entender las reglas de la aplicación sin arriesgar nada. Siempre les vamos a avisar antes, con un «Probá algo que va a fallar», y después les mostramos cómo hacerlo bien.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simulador no es lo único que tienen. Hay un video donde se ve un itinerario completo, grabado y narrado: el de vender, esperar la liquidación y retirar, que es el que más dudas genera. Hay una infografía de una página con todo el ciclo, pensada para imprimirla y tenerla al lado de la computadora mientras practican. Y hay un podcast corto, «¿Es seguro mandar mi plata ahí?», para escuchar cuando quieran, sin necesidad de mirar una pantalla. Al terminar cada sección les vamos a pedir una puntuación del 1 al 10: nos sirve para saber qué explicar mejor.</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 esto ya tienen todo para empezar. Hagan clic en «Iniciar capacitación» y elijan su itinerario; si es la primera vez, les recomendamos el ciclo completo. Tómense el tiempo que necesiten: no hay apuro y nada de lo que hagan acá tiene consecuencias reales. Si algo no queda claro, tienen el video, la infografía y el podcast para verlo de otra forma. El círculo, ahora completo, es la idea con la que empezamos: el ciclo termina donde empezó, con la plata disponible.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7F6FC"/>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02361"/>
            <a:ext cx="10566400" cy="525780"/>
          </a:xfrm>
          <a:prstGeom prst="rect">
            <a:avLst/>
          </a:prstGeom>
          <a:noFill/>
          <a:ln/>
        </p:spPr>
        <p:txBody>
          <a:bodyPr wrap="square" lIns="0" tIns="0" rIns="0" bIns="0" rtlCol="0" anchor="t"/>
          <a:lstStyle>
            <a:lvl1pPr marL="0" indent="0" algn="l">
              <a:lnSpc>
                <a:spcPct val="115000"/>
              </a:lnSpc>
              <a:buNone/>
              <a:defRPr lang="en-US" sz="3600" dirty="0">
                <a:solidFill>
                  <a:srgbClr val="06083F"/>
                </a:solidFill>
                <a:latin typeface="Barlow" pitchFamily="34" charset="0"/>
                <a:ea typeface="Barlow" pitchFamily="34" charset="-122"/>
                <a:cs typeface="Barlow"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1932941"/>
            <a:ext cx="10566400" cy="4112259"/>
          </a:xfrm>
          <a:prstGeom prst="rect">
            <a:avLst/>
          </a:prstGeom>
          <a:noFill/>
          <a:ln/>
        </p:spPr>
        <p:txBody>
          <a:bodyPr wrap="square" lIns="0" tIns="0" rIns="0" bIns="0" rtlCol="0" anchor="t"/>
          <a:lstStyle>
            <a:lvl1pPr marL="0" indent="0" algn="l">
              <a:lnSpc>
                <a:spcPct val="140000"/>
              </a:lnSpc>
              <a:buNone/>
              <a:defRPr lang="en-US" sz="1600" dirty="0">
                <a:solidFill>
                  <a:srgbClr val="06083F"/>
                </a:solidFill>
                <a:latin typeface="Barlow" pitchFamily="34" charset="0"/>
                <a:ea typeface="Barlow" pitchFamily="34" charset="-122"/>
                <a:cs typeface="Barlow"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6FC"/>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02361"/>
            <a:ext cx="10566400" cy="525780"/>
          </a:xfrm>
          <a:prstGeom prst="rect">
            <a:avLst/>
          </a:prstGeom>
          <a:noFill/>
          <a:ln/>
        </p:spPr>
        <p:txBody>
          <a:bodyPr wrap="square" lIns="0" tIns="0" rIns="0" bIns="0" rtlCol="0" anchor="t"/>
          <a:lstStyle>
            <a:lvl1pPr marL="0" indent="0" algn="l">
              <a:lnSpc>
                <a:spcPct val="115000"/>
              </a:lnSpc>
              <a:buNone/>
              <a:defRPr lang="en-US" sz="3600" dirty="0">
                <a:solidFill>
                  <a:srgbClr val="06083F"/>
                </a:solidFill>
                <a:latin typeface="Barlow" pitchFamily="34" charset="0"/>
                <a:ea typeface="Barlow" pitchFamily="34" charset="-122"/>
                <a:cs typeface="Barlow"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1932941"/>
            <a:ext cx="10566400" cy="4112259"/>
          </a:xfrm>
          <a:prstGeom prst="rect">
            <a:avLst/>
          </a:prstGeom>
          <a:noFill/>
          <a:ln/>
        </p:spPr>
        <p:txBody>
          <a:bodyPr wrap="square" lIns="0" tIns="0" rIns="0" bIns="0" rtlCol="0" anchor="t"/>
          <a:lstStyle>
            <a:lvl1pPr marL="0" indent="0" algn="l">
              <a:lnSpc>
                <a:spcPct val="140000"/>
              </a:lnSpc>
              <a:buNone/>
              <a:defRPr lang="en-US" sz="1600" dirty="0">
                <a:solidFill>
                  <a:srgbClr val="06083F"/>
                </a:solidFill>
                <a:latin typeface="Barlow" pitchFamily="34" charset="0"/>
                <a:ea typeface="Barlow" pitchFamily="34" charset="-122"/>
                <a:cs typeface="Barlow"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6083F"/>
        </a:solidFill>
        <a:effectLst/>
      </p:bgPr>
    </p:bg>
    <p:spTree>
      <p:nvGrpSpPr>
        <p:cNvPr id="1" name=""/>
        <p:cNvGrpSpPr/>
        <p:nvPr/>
      </p:nvGrpSpPr>
      <p:grpSpPr>
        <a:xfrm>
          <a:off x="0" y="0"/>
          <a:ext cx="0" cy="0"/>
          <a:chOff x="0" y="0"/>
          <a:chExt cx="0" cy="0"/>
        </a:xfrm>
      </p:grpSpPr>
      <p:sp>
        <p:nvSpPr>
          <p:cNvPr id="2" name="Shape 0"/>
          <p:cNvSpPr/>
          <p:nvPr/>
        </p:nvSpPr>
        <p:spPr>
          <a:xfrm>
            <a:off x="0" y="0"/>
            <a:ext cx="12192000" cy="457200"/>
          </a:xfrm>
          <a:prstGeom prst="rect">
            <a:avLst/>
          </a:prstGeom>
          <a:solidFill>
            <a:srgbClr val="E8B23A"/>
          </a:solidFill>
          <a:ln/>
        </p:spPr>
        <p:txBody>
          <a:bodyPr/>
          <a:lstStyle/>
          <a:p>
            <a:endParaRPr lang="es-AR"/>
          </a:p>
        </p:txBody>
      </p:sp>
      <p:sp>
        <p:nvSpPr>
          <p:cNvPr id="3" name="Text 1"/>
          <p:cNvSpPr/>
          <p:nvPr/>
        </p:nvSpPr>
        <p:spPr>
          <a:xfrm>
            <a:off x="812800" y="1143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0160A"/>
                </a:solidFill>
                <a:latin typeface="IBM Plex Mono" pitchFamily="49" charset="0"/>
                <a:ea typeface="IBM Plex Mono" pitchFamily="49" charset="-122"/>
                <a:cs typeface="IBM Plex Mono" pitchFamily="49" charset="-120"/>
              </a:rPr>
              <a:t>MODO CAPACITACIÓN · DINERO Y PRECIOS FICTICIOS</a:t>
            </a:r>
            <a:endParaRPr lang="en-US" sz="1200" dirty="0"/>
          </a:p>
        </p:txBody>
      </p:sp>
      <p:pic>
        <p:nvPicPr>
          <p:cNvPr id="4" name="Image 0" descr="Un círculo con seis puntos: las seis etapas del ciclo de una inversión"/>
          <p:cNvPicPr>
            <a:picLocks noChangeAspect="1"/>
          </p:cNvPicPr>
          <p:nvPr/>
        </p:nvPicPr>
        <p:blipFill>
          <a:blip r:embed="rId3"/>
          <a:srcRect/>
          <a:stretch/>
        </p:blipFill>
        <p:spPr>
          <a:xfrm>
            <a:off x="8331200" y="1905000"/>
            <a:ext cx="3048000" cy="3048000"/>
          </a:xfrm>
          <a:prstGeom prst="rect">
            <a:avLst/>
          </a:prstGeom>
        </p:spPr>
      </p:pic>
      <p:sp>
        <p:nvSpPr>
          <p:cNvPr id="5" name="Text 2"/>
          <p:cNvSpPr/>
          <p:nvPr/>
        </p:nvSpPr>
        <p:spPr>
          <a:xfrm>
            <a:off x="812800" y="243586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895FF"/>
                </a:solidFill>
                <a:latin typeface="IBM Plex Mono" pitchFamily="49" charset="0"/>
                <a:ea typeface="IBM Plex Mono" pitchFamily="49" charset="-122"/>
                <a:cs typeface="IBM Plex Mono" pitchFamily="49" charset="-120"/>
              </a:rPr>
              <a:t>CAPACITACIÓN EN EL USO DE INVERTIR ONLINE (IOL)</a:t>
            </a:r>
            <a:endParaRPr lang="en-US" sz="1200" dirty="0"/>
          </a:p>
        </p:txBody>
      </p:sp>
      <p:sp>
        <p:nvSpPr>
          <p:cNvPr id="6" name="Text 3"/>
          <p:cNvSpPr>
            <a:spLocks noGrp="1"/>
          </p:cNvSpPr>
          <p:nvPr>
            <p:ph type="title"/>
          </p:nvPr>
        </p:nvSpPr>
        <p:spPr>
          <a:xfrm>
            <a:off x="812800" y="2852420"/>
            <a:ext cx="10883392" cy="825500"/>
          </a:xfrm>
          <a:prstGeom prst="rect">
            <a:avLst/>
          </a:prstGeom>
          <a:noFill/>
          <a:ln/>
        </p:spPr>
        <p:txBody>
          <a:bodyPr wrap="square" lIns="0" tIns="0" rIns="0" bIns="0" rtlCol="0" anchor="t">
            <a:normAutofit/>
          </a:bodyPr>
          <a:lstStyle/>
          <a:p>
            <a:pPr marL="0" indent="0" algn="l">
              <a:lnSpc>
                <a:spcPts val="6300"/>
              </a:lnSpc>
              <a:buNone/>
            </a:pPr>
            <a:r>
              <a:rPr lang="en-US" sz="6000" b="1" i="0" kern="0" spc="-150" dirty="0">
                <a:solidFill>
                  <a:srgbClr val="F7F6FC"/>
                </a:solidFill>
                <a:latin typeface="Barlow" pitchFamily="34" charset="0"/>
                <a:ea typeface="Barlow" pitchFamily="34" charset="-122"/>
                <a:cs typeface="Barlow" pitchFamily="34" charset="-120"/>
              </a:rPr>
              <a:t>Antes de empezar</a:t>
            </a:r>
            <a:endParaRPr lang="en-US" sz="6000" dirty="0"/>
          </a:p>
        </p:txBody>
      </p:sp>
      <p:sp>
        <p:nvSpPr>
          <p:cNvPr id="7" name="Text 4"/>
          <p:cNvSpPr/>
          <p:nvPr/>
        </p:nvSpPr>
        <p:spPr>
          <a:xfrm>
            <a:off x="812800" y="3855720"/>
            <a:ext cx="7194550" cy="388620"/>
          </a:xfrm>
          <a:prstGeom prst="rect">
            <a:avLst/>
          </a:prstGeom>
          <a:noFill/>
          <a:ln/>
        </p:spPr>
        <p:txBody>
          <a:bodyPr wrap="square" lIns="0" tIns="0" rIns="0" bIns="0" rtlCol="0" anchor="t">
            <a:normAutofit/>
          </a:bodyPr>
          <a:lstStyle/>
          <a:p>
            <a:pPr marL="0" indent="0" algn="l">
              <a:lnSpc>
                <a:spcPts val="2860"/>
              </a:lnSpc>
              <a:buNone/>
            </a:pPr>
            <a:r>
              <a:rPr lang="en-US" sz="2200" dirty="0">
                <a:solidFill>
                  <a:srgbClr val="B9B4E0"/>
                </a:solidFill>
                <a:latin typeface="Barlow" pitchFamily="34" charset="0"/>
                <a:ea typeface="Barlow" pitchFamily="34" charset="-122"/>
                <a:cs typeface="Barlow" pitchFamily="34" charset="-120"/>
              </a:rPr>
              <a:t>Qué vas a aprender, qué no, y cómo se usa el simulador.</a:t>
            </a:r>
            <a:endParaRPr lang="en-US" sz="2200" dirty="0"/>
          </a:p>
        </p:txBody>
      </p:sp>
      <p:sp>
        <p:nvSpPr>
          <p:cNvPr id="8" name="Text 5"/>
          <p:cNvSpPr/>
          <p:nvPr/>
        </p:nvSpPr>
        <p:spPr>
          <a:xfrm>
            <a:off x="812800" y="623824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9B4E0"/>
                </a:solidFill>
                <a:latin typeface="Barlow" pitchFamily="34" charset="0"/>
                <a:ea typeface="Barlow" pitchFamily="34" charset="-122"/>
                <a:cs typeface="Barlow" pitchFamily="34" charset="-120"/>
              </a:rPr>
              <a:t>Comunicación Multimedial en el Desarrollo de Sistemas de Información · UTN-FRC ·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6F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6439FF"/>
                </a:solidFill>
                <a:latin typeface="IBM Plex Mono" pitchFamily="49" charset="0"/>
                <a:ea typeface="IBM Plex Mono" pitchFamily="49" charset="-122"/>
                <a:cs typeface="IBM Plex Mono" pitchFamily="49" charset="-120"/>
              </a:rPr>
              <a:t>ÍNDICE</a:t>
            </a:r>
            <a:endParaRPr lang="en-US" sz="1200" dirty="0"/>
          </a:p>
        </p:txBody>
      </p:sp>
      <p:sp>
        <p:nvSpPr>
          <p:cNvPr id="3" name="Text 1"/>
          <p:cNvSpPr>
            <a:spLocks noGrp="1"/>
          </p:cNvSpPr>
          <p:nvPr>
            <p:ph type="title"/>
          </p:nvPr>
        </p:nvSpPr>
        <p:spPr>
          <a:xfrm>
            <a:off x="812800" y="1102360"/>
            <a:ext cx="10883392" cy="551180"/>
          </a:xfrm>
          <a:prstGeom prst="rect">
            <a:avLst/>
          </a:prstGeom>
          <a:noFill/>
          <a:ln/>
        </p:spPr>
        <p:txBody>
          <a:bodyPr wrap="square" lIns="0" tIns="0" rIns="0" bIns="0" rtlCol="0" anchor="t">
            <a:normAutofit/>
          </a:bodyPr>
          <a:lstStyle/>
          <a:p>
            <a:pPr marL="0" indent="0" algn="l">
              <a:lnSpc>
                <a:spcPts val="4140"/>
              </a:lnSpc>
              <a:buNone/>
            </a:pPr>
            <a:r>
              <a:rPr lang="en-US" sz="3600" b="1" i="0" kern="0" spc="-50" dirty="0">
                <a:solidFill>
                  <a:srgbClr val="06083F"/>
                </a:solidFill>
                <a:latin typeface="Barlow" pitchFamily="34" charset="0"/>
                <a:ea typeface="Barlow" pitchFamily="34" charset="-122"/>
                <a:cs typeface="Barlow" pitchFamily="34" charset="-120"/>
              </a:rPr>
              <a:t>En esta guía</a:t>
            </a:r>
            <a:endParaRPr lang="en-US" sz="3600" dirty="0"/>
          </a:p>
        </p:txBody>
      </p:sp>
      <p:sp>
        <p:nvSpPr>
          <p:cNvPr id="4" name="Text 2"/>
          <p:cNvSpPr/>
          <p:nvPr/>
        </p:nvSpPr>
        <p:spPr>
          <a:xfrm>
            <a:off x="4699000" y="1905000"/>
            <a:ext cx="2794000" cy="487680"/>
          </a:xfrm>
          <a:prstGeom prst="roundRect">
            <a:avLst>
              <a:gd name="adj" fmla="val 50000"/>
            </a:avLst>
          </a:prstGeom>
          <a:solidFill>
            <a:srgbClr val="6439FF"/>
          </a:solidFill>
          <a:ln/>
        </p:spPr>
        <p:txBody>
          <a:bodyPr wrap="square" lIns="95968" tIns="30182" rIns="95968" bIns="4782" rtlCol="0" anchor="t">
            <a:normAutofit/>
          </a:bodyPr>
          <a:lstStyle/>
          <a:p>
            <a:pPr marL="0" indent="0" algn="ctr">
              <a:lnSpc>
                <a:spcPts val="2240"/>
              </a:lnSpc>
              <a:buNone/>
            </a:pPr>
            <a:r>
              <a:rPr lang="en-US" sz="1600" b="1" dirty="0">
                <a:solidFill>
                  <a:srgbClr val="F7F6FC"/>
                </a:solidFill>
                <a:latin typeface="Barlow" pitchFamily="34" charset="0"/>
                <a:ea typeface="Barlow" pitchFamily="34" charset="-122"/>
                <a:cs typeface="Barlow" pitchFamily="34" charset="-120"/>
              </a:rPr>
              <a:t>Antes de empezar</a:t>
            </a:r>
            <a:endParaRPr lang="en-US" sz="1600" dirty="0"/>
          </a:p>
        </p:txBody>
      </p:sp>
      <p:sp>
        <p:nvSpPr>
          <p:cNvPr id="5" name="Shape 3"/>
          <p:cNvSpPr/>
          <p:nvPr/>
        </p:nvSpPr>
        <p:spPr>
          <a:xfrm>
            <a:off x="6089650" y="2393950"/>
            <a:ext cx="19050" cy="228600"/>
          </a:xfrm>
          <a:prstGeom prst="rect">
            <a:avLst/>
          </a:prstGeom>
          <a:solidFill>
            <a:srgbClr val="C7C2DD"/>
          </a:solidFill>
          <a:ln/>
        </p:spPr>
        <p:txBody>
          <a:bodyPr/>
          <a:lstStyle/>
          <a:p>
            <a:endParaRPr lang="es-AR"/>
          </a:p>
        </p:txBody>
      </p:sp>
      <p:sp>
        <p:nvSpPr>
          <p:cNvPr id="6" name="Shape 4"/>
          <p:cNvSpPr/>
          <p:nvPr/>
        </p:nvSpPr>
        <p:spPr>
          <a:xfrm>
            <a:off x="2457450" y="2616200"/>
            <a:ext cx="7283450" cy="19050"/>
          </a:xfrm>
          <a:prstGeom prst="rect">
            <a:avLst/>
          </a:prstGeom>
          <a:solidFill>
            <a:srgbClr val="C7C2DD"/>
          </a:solidFill>
          <a:ln/>
        </p:spPr>
        <p:txBody>
          <a:bodyPr/>
          <a:lstStyle/>
          <a:p>
            <a:endParaRPr lang="es-AR"/>
          </a:p>
        </p:txBody>
      </p:sp>
      <p:sp>
        <p:nvSpPr>
          <p:cNvPr id="7" name="Shape 5"/>
          <p:cNvSpPr/>
          <p:nvPr/>
        </p:nvSpPr>
        <p:spPr>
          <a:xfrm>
            <a:off x="2457450" y="2616200"/>
            <a:ext cx="19050" cy="254000"/>
          </a:xfrm>
          <a:prstGeom prst="rect">
            <a:avLst/>
          </a:prstGeom>
          <a:solidFill>
            <a:srgbClr val="C7C2DD"/>
          </a:solidFill>
          <a:ln/>
        </p:spPr>
        <p:txBody>
          <a:bodyPr/>
          <a:lstStyle/>
          <a:p>
            <a:endParaRPr lang="es-AR"/>
          </a:p>
        </p:txBody>
      </p:sp>
      <p:sp>
        <p:nvSpPr>
          <p:cNvPr id="8" name="Shape 6"/>
          <p:cNvSpPr/>
          <p:nvPr/>
        </p:nvSpPr>
        <p:spPr>
          <a:xfrm>
            <a:off x="6089650" y="2616200"/>
            <a:ext cx="19050" cy="254000"/>
          </a:xfrm>
          <a:prstGeom prst="rect">
            <a:avLst/>
          </a:prstGeom>
          <a:solidFill>
            <a:srgbClr val="C7C2DD"/>
          </a:solidFill>
          <a:ln/>
        </p:spPr>
        <p:txBody>
          <a:bodyPr/>
          <a:lstStyle/>
          <a:p>
            <a:endParaRPr lang="es-AR"/>
          </a:p>
        </p:txBody>
      </p:sp>
      <p:sp>
        <p:nvSpPr>
          <p:cNvPr id="9" name="Shape 7"/>
          <p:cNvSpPr/>
          <p:nvPr/>
        </p:nvSpPr>
        <p:spPr>
          <a:xfrm>
            <a:off x="9721850" y="2616200"/>
            <a:ext cx="19050" cy="254000"/>
          </a:xfrm>
          <a:prstGeom prst="rect">
            <a:avLst/>
          </a:prstGeom>
          <a:solidFill>
            <a:srgbClr val="C7C2DD"/>
          </a:solidFill>
          <a:ln/>
        </p:spPr>
        <p:txBody>
          <a:bodyPr/>
          <a:lstStyle/>
          <a:p>
            <a:endParaRPr lang="es-AR"/>
          </a:p>
        </p:txBody>
      </p:sp>
      <p:sp>
        <p:nvSpPr>
          <p:cNvPr id="10" name="Shape 8"/>
          <p:cNvSpPr/>
          <p:nvPr/>
        </p:nvSpPr>
        <p:spPr>
          <a:xfrm>
            <a:off x="800100" y="2735580"/>
            <a:ext cx="3302000" cy="2199640"/>
          </a:xfrm>
          <a:prstGeom prst="roundRect">
            <a:avLst>
              <a:gd name="adj" fmla="val 4619"/>
            </a:avLst>
          </a:prstGeom>
          <a:solidFill>
            <a:srgbClr val="EEEDF8"/>
          </a:solidFill>
          <a:ln/>
        </p:spPr>
        <p:txBody>
          <a:bodyPr/>
          <a:lstStyle/>
          <a:p>
            <a:endParaRPr lang="es-AR"/>
          </a:p>
        </p:txBody>
      </p:sp>
      <p:sp>
        <p:nvSpPr>
          <p:cNvPr id="11" name="Shape 9"/>
          <p:cNvSpPr/>
          <p:nvPr/>
        </p:nvSpPr>
        <p:spPr>
          <a:xfrm>
            <a:off x="812800" y="2870200"/>
            <a:ext cx="3302000" cy="2199640"/>
          </a:xfrm>
          <a:custGeom>
            <a:avLst/>
            <a:gdLst/>
            <a:ahLst/>
            <a:cxnLst/>
            <a:rect l="l" t="t" r="r" b="b"/>
            <a:pathLst>
              <a:path w="3302000" h="2199640">
                <a:moveTo>
                  <a:pt x="0" y="101600"/>
                </a:moveTo>
                <a:lnTo>
                  <a:pt x="0" y="101600"/>
                </a:lnTo>
                <a:arcTo wR="101600" hR="101600" stAng="10800000" swAng="5400000"/>
                <a:lnTo>
                  <a:pt x="3200400" y="0"/>
                </a:lnTo>
                <a:arcTo wR="101600" hR="101600" stAng="16200000" swAng="5400000"/>
                <a:lnTo>
                  <a:pt x="3302000" y="101600"/>
                </a:lnTo>
                <a:arcTo wR="101600" hR="63500" stAng="0" swAng="-5400000"/>
                <a:lnTo>
                  <a:pt x="101600" y="38100"/>
                </a:lnTo>
                <a:arcTo wR="101600" hR="63500" stAng="16200000" swAng="-5400000"/>
                <a:close/>
              </a:path>
            </a:pathLst>
          </a:custGeom>
          <a:solidFill>
            <a:srgbClr val="6439FF"/>
          </a:solidFill>
          <a:ln/>
        </p:spPr>
        <p:txBody>
          <a:bodyPr/>
          <a:lstStyle/>
          <a:p>
            <a:endParaRPr lang="es-AR"/>
          </a:p>
        </p:txBody>
      </p:sp>
      <p:sp>
        <p:nvSpPr>
          <p:cNvPr id="12" name="Text 10"/>
          <p:cNvSpPr/>
          <p:nvPr/>
        </p:nvSpPr>
        <p:spPr>
          <a:xfrm>
            <a:off x="1066800" y="3159760"/>
            <a:ext cx="2877820"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6439FF"/>
                </a:solidFill>
                <a:latin typeface="IBM Plex Mono" pitchFamily="49" charset="0"/>
                <a:ea typeface="IBM Plex Mono" pitchFamily="49" charset="-122"/>
                <a:cs typeface="IBM Plex Mono" pitchFamily="49" charset="-120"/>
              </a:rPr>
              <a:t>01</a:t>
            </a:r>
            <a:endParaRPr lang="en-US" sz="1200" dirty="0"/>
          </a:p>
        </p:txBody>
      </p:sp>
      <p:sp>
        <p:nvSpPr>
          <p:cNvPr id="13" name="Text 11"/>
          <p:cNvSpPr/>
          <p:nvPr/>
        </p:nvSpPr>
        <p:spPr>
          <a:xfrm>
            <a:off x="1066800" y="3474720"/>
            <a:ext cx="2877820" cy="69596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06083F"/>
                </a:solidFill>
                <a:latin typeface="Barlow" pitchFamily="34" charset="0"/>
                <a:ea typeface="Barlow" pitchFamily="34" charset="-122"/>
                <a:cs typeface="Barlow" pitchFamily="34" charset="-120"/>
              </a:rPr>
              <a:t>Qué es esta capacitación</a:t>
            </a:r>
            <a:endParaRPr lang="en-US" sz="2200" dirty="0"/>
          </a:p>
        </p:txBody>
      </p:sp>
      <p:sp>
        <p:nvSpPr>
          <p:cNvPr id="14" name="Text 12"/>
          <p:cNvSpPr/>
          <p:nvPr/>
        </p:nvSpPr>
        <p:spPr>
          <a:xfrm>
            <a:off x="1223518" y="3873500"/>
            <a:ext cx="2806192" cy="594360"/>
          </a:xfrm>
          <a:prstGeom prst="rect">
            <a:avLst/>
          </a:prstGeom>
          <a:noFill/>
          <a:ln/>
        </p:spPr>
        <p:txBody>
          <a:bodyPr wrap="square" lIns="0" tIns="0" rIns="0" bIns="0" rtlCol="0" anchor="t">
            <a:normAutofit/>
          </a:bodyPr>
          <a:lstStyle/>
          <a:p>
            <a:pPr algn="l">
              <a:lnSpc>
                <a:spcPts val="2240"/>
              </a:lnSpc>
              <a:buSzPct val="100000"/>
            </a:pPr>
            <a:endParaRPr lang="en-US" sz="1600" dirty="0"/>
          </a:p>
          <a:p>
            <a:pPr algn="l">
              <a:lnSpc>
                <a:spcPts val="2240"/>
              </a:lnSpc>
              <a:buSzPct val="100000"/>
            </a:pPr>
            <a:endParaRPr lang="en-US" sz="1600" dirty="0"/>
          </a:p>
          <a:p>
            <a:pPr algn="l">
              <a:lnSpc>
                <a:spcPts val="2240"/>
              </a:lnSpc>
              <a:buSzPct val="100000"/>
            </a:pPr>
            <a:endParaRPr lang="en-US" sz="1600" dirty="0"/>
          </a:p>
        </p:txBody>
      </p:sp>
      <p:sp>
        <p:nvSpPr>
          <p:cNvPr id="15" name="Shape 13"/>
          <p:cNvSpPr/>
          <p:nvPr/>
        </p:nvSpPr>
        <p:spPr>
          <a:xfrm>
            <a:off x="4445000" y="2870200"/>
            <a:ext cx="3302000" cy="2148840"/>
          </a:xfrm>
          <a:prstGeom prst="roundRect">
            <a:avLst>
              <a:gd name="adj" fmla="val 4728"/>
            </a:avLst>
          </a:prstGeom>
          <a:solidFill>
            <a:srgbClr val="EEEDF8"/>
          </a:solidFill>
          <a:ln/>
        </p:spPr>
        <p:txBody>
          <a:bodyPr/>
          <a:lstStyle/>
          <a:p>
            <a:endParaRPr lang="es-AR"/>
          </a:p>
        </p:txBody>
      </p:sp>
      <p:sp>
        <p:nvSpPr>
          <p:cNvPr id="16" name="Shape 14"/>
          <p:cNvSpPr/>
          <p:nvPr/>
        </p:nvSpPr>
        <p:spPr>
          <a:xfrm>
            <a:off x="4445000" y="2870200"/>
            <a:ext cx="3302000" cy="2148840"/>
          </a:xfrm>
          <a:custGeom>
            <a:avLst/>
            <a:gdLst/>
            <a:ahLst/>
            <a:cxnLst/>
            <a:rect l="l" t="t" r="r" b="b"/>
            <a:pathLst>
              <a:path w="3302000" h="2148840">
                <a:moveTo>
                  <a:pt x="0" y="101600"/>
                </a:moveTo>
                <a:lnTo>
                  <a:pt x="0" y="101600"/>
                </a:lnTo>
                <a:arcTo wR="101600" hR="101600" stAng="10800000" swAng="5400000"/>
                <a:lnTo>
                  <a:pt x="3200400" y="0"/>
                </a:lnTo>
                <a:arcTo wR="101600" hR="101600" stAng="16200000" swAng="5400000"/>
                <a:lnTo>
                  <a:pt x="3302000" y="101600"/>
                </a:lnTo>
                <a:arcTo wR="101600" hR="63500" stAng="0" swAng="-5400000"/>
                <a:lnTo>
                  <a:pt x="101600" y="38100"/>
                </a:lnTo>
                <a:arcTo wR="101600" hR="63500" stAng="16200000" swAng="-5400000"/>
                <a:close/>
              </a:path>
            </a:pathLst>
          </a:custGeom>
          <a:solidFill>
            <a:srgbClr val="6439FF"/>
          </a:solidFill>
          <a:ln/>
        </p:spPr>
        <p:txBody>
          <a:bodyPr/>
          <a:lstStyle/>
          <a:p>
            <a:endParaRPr lang="es-AR"/>
          </a:p>
        </p:txBody>
      </p:sp>
      <p:sp>
        <p:nvSpPr>
          <p:cNvPr id="17" name="Text 15"/>
          <p:cNvSpPr/>
          <p:nvPr/>
        </p:nvSpPr>
        <p:spPr>
          <a:xfrm>
            <a:off x="4699000" y="3159760"/>
            <a:ext cx="2877820"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6439FF"/>
                </a:solidFill>
                <a:latin typeface="IBM Plex Mono" pitchFamily="49" charset="0"/>
                <a:ea typeface="IBM Plex Mono" pitchFamily="49" charset="-122"/>
                <a:cs typeface="IBM Plex Mono" pitchFamily="49" charset="-120"/>
              </a:rPr>
              <a:t>02</a:t>
            </a:r>
            <a:endParaRPr lang="en-US" sz="1200" dirty="0"/>
          </a:p>
        </p:txBody>
      </p:sp>
      <p:sp>
        <p:nvSpPr>
          <p:cNvPr id="18" name="Text 16"/>
          <p:cNvSpPr/>
          <p:nvPr/>
        </p:nvSpPr>
        <p:spPr>
          <a:xfrm>
            <a:off x="4699000" y="3474720"/>
            <a:ext cx="2877820" cy="36068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06083F"/>
                </a:solidFill>
                <a:latin typeface="Barlow" pitchFamily="34" charset="0"/>
                <a:ea typeface="Barlow" pitchFamily="34" charset="-122"/>
                <a:cs typeface="Barlow" pitchFamily="34" charset="-120"/>
              </a:rPr>
              <a:t>Qué vas a aprender</a:t>
            </a:r>
            <a:endParaRPr lang="en-US" sz="2200" dirty="0"/>
          </a:p>
        </p:txBody>
      </p:sp>
      <p:sp>
        <p:nvSpPr>
          <p:cNvPr id="19" name="Text 17"/>
          <p:cNvSpPr/>
          <p:nvPr/>
        </p:nvSpPr>
        <p:spPr>
          <a:xfrm>
            <a:off x="4763008" y="3911600"/>
            <a:ext cx="2806192" cy="878840"/>
          </a:xfrm>
          <a:prstGeom prst="rect">
            <a:avLst/>
          </a:prstGeom>
          <a:noFill/>
          <a:ln/>
        </p:spPr>
        <p:txBody>
          <a:bodyPr wrap="square" lIns="0" tIns="0" rIns="0" bIns="0" rtlCol="0" anchor="t">
            <a:normAutofit/>
          </a:bodyPr>
          <a:lstStyle/>
          <a:p>
            <a:pPr marL="189992" indent="-189992" algn="l">
              <a:lnSpc>
                <a:spcPts val="2240"/>
              </a:lnSpc>
              <a:buSzPct val="100000"/>
              <a:buChar char="•"/>
            </a:pPr>
            <a:r>
              <a:rPr lang="en-US" sz="1600" dirty="0">
                <a:solidFill>
                  <a:srgbClr val="4A4B78"/>
                </a:solidFill>
                <a:latin typeface="Barlow" pitchFamily="34" charset="0"/>
                <a:ea typeface="Barlow" pitchFamily="34" charset="-122"/>
                <a:cs typeface="Barlow" pitchFamily="34" charset="-120"/>
              </a:rPr>
              <a:t>El ciclo de una inversión</a:t>
            </a:r>
            <a:endParaRPr lang="en-US" sz="1600" dirty="0"/>
          </a:p>
          <a:p>
            <a:pPr marL="189992" indent="-189992" algn="l">
              <a:lnSpc>
                <a:spcPts val="2240"/>
              </a:lnSpc>
              <a:buSzPct val="100000"/>
              <a:buChar char="•"/>
            </a:pPr>
            <a:r>
              <a:rPr lang="en-US" sz="1600" dirty="0">
                <a:solidFill>
                  <a:srgbClr val="4A4B78"/>
                </a:solidFill>
                <a:latin typeface="Barlow" pitchFamily="34" charset="0"/>
                <a:ea typeface="Barlow" pitchFamily="34" charset="-122"/>
                <a:cs typeface="Barlow" pitchFamily="34" charset="-120"/>
              </a:rPr>
              <a:t>Lo que queda afuera</a:t>
            </a:r>
            <a:endParaRPr lang="en-US" sz="1600" dirty="0"/>
          </a:p>
          <a:p>
            <a:pPr marL="189992" indent="-189992" algn="l">
              <a:lnSpc>
                <a:spcPts val="2240"/>
              </a:lnSpc>
              <a:buSzPct val="100000"/>
              <a:buChar char="•"/>
            </a:pPr>
            <a:r>
              <a:rPr lang="en-US" sz="1600" dirty="0">
                <a:solidFill>
                  <a:srgbClr val="4A4B78"/>
                </a:solidFill>
                <a:latin typeface="Barlow" pitchFamily="34" charset="0"/>
                <a:ea typeface="Barlow" pitchFamily="34" charset="-122"/>
                <a:cs typeface="Barlow" pitchFamily="34" charset="-120"/>
              </a:rPr>
              <a:t>Los tres saldos</a:t>
            </a:r>
            <a:endParaRPr lang="en-US" sz="1600" dirty="0"/>
          </a:p>
        </p:txBody>
      </p:sp>
      <p:sp>
        <p:nvSpPr>
          <p:cNvPr id="20" name="Shape 18"/>
          <p:cNvSpPr/>
          <p:nvPr/>
        </p:nvSpPr>
        <p:spPr>
          <a:xfrm>
            <a:off x="8077200" y="2870200"/>
            <a:ext cx="3302000" cy="2768600"/>
          </a:xfrm>
          <a:prstGeom prst="roundRect">
            <a:avLst>
              <a:gd name="adj" fmla="val 3670"/>
            </a:avLst>
          </a:prstGeom>
          <a:solidFill>
            <a:srgbClr val="EEEDF8"/>
          </a:solidFill>
          <a:ln/>
        </p:spPr>
        <p:txBody>
          <a:bodyPr/>
          <a:lstStyle/>
          <a:p>
            <a:endParaRPr lang="es-AR"/>
          </a:p>
        </p:txBody>
      </p:sp>
      <p:sp>
        <p:nvSpPr>
          <p:cNvPr id="21" name="Shape 19"/>
          <p:cNvSpPr/>
          <p:nvPr/>
        </p:nvSpPr>
        <p:spPr>
          <a:xfrm>
            <a:off x="8077200" y="2870200"/>
            <a:ext cx="3302000" cy="2768600"/>
          </a:xfrm>
          <a:custGeom>
            <a:avLst/>
            <a:gdLst/>
            <a:ahLst/>
            <a:cxnLst/>
            <a:rect l="l" t="t" r="r" b="b"/>
            <a:pathLst>
              <a:path w="3302000" h="2768600">
                <a:moveTo>
                  <a:pt x="0" y="101600"/>
                </a:moveTo>
                <a:lnTo>
                  <a:pt x="0" y="101600"/>
                </a:lnTo>
                <a:arcTo wR="101600" hR="101600" stAng="10800000" swAng="5400000"/>
                <a:lnTo>
                  <a:pt x="3200400" y="0"/>
                </a:lnTo>
                <a:arcTo wR="101600" hR="101600" stAng="16200000" swAng="5400000"/>
                <a:lnTo>
                  <a:pt x="3302000" y="101600"/>
                </a:lnTo>
                <a:arcTo wR="101600" hR="63500" stAng="0" swAng="-5400000"/>
                <a:lnTo>
                  <a:pt x="101600" y="38100"/>
                </a:lnTo>
                <a:arcTo wR="101600" hR="63500" stAng="16200000" swAng="-5400000"/>
                <a:close/>
              </a:path>
            </a:pathLst>
          </a:custGeom>
          <a:solidFill>
            <a:srgbClr val="6439FF"/>
          </a:solidFill>
          <a:ln/>
        </p:spPr>
        <p:txBody>
          <a:bodyPr/>
          <a:lstStyle/>
          <a:p>
            <a:endParaRPr lang="es-AR"/>
          </a:p>
        </p:txBody>
      </p:sp>
      <p:sp>
        <p:nvSpPr>
          <p:cNvPr id="22" name="Text 20"/>
          <p:cNvSpPr/>
          <p:nvPr/>
        </p:nvSpPr>
        <p:spPr>
          <a:xfrm>
            <a:off x="8331200" y="3159760"/>
            <a:ext cx="2877820"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6439FF"/>
                </a:solidFill>
                <a:latin typeface="IBM Plex Mono" pitchFamily="49" charset="0"/>
                <a:ea typeface="IBM Plex Mono" pitchFamily="49" charset="-122"/>
                <a:cs typeface="IBM Plex Mono" pitchFamily="49" charset="-120"/>
              </a:rPr>
              <a:t>03</a:t>
            </a:r>
            <a:endParaRPr lang="en-US" sz="1200" dirty="0"/>
          </a:p>
        </p:txBody>
      </p:sp>
      <p:sp>
        <p:nvSpPr>
          <p:cNvPr id="23" name="Text 21"/>
          <p:cNvSpPr/>
          <p:nvPr/>
        </p:nvSpPr>
        <p:spPr>
          <a:xfrm>
            <a:off x="8331200" y="3474720"/>
            <a:ext cx="2877820" cy="69596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06083F"/>
                </a:solidFill>
                <a:latin typeface="Barlow" pitchFamily="34" charset="0"/>
                <a:ea typeface="Barlow" pitchFamily="34" charset="-122"/>
                <a:cs typeface="Barlow" pitchFamily="34" charset="-120"/>
              </a:rPr>
              <a:t>Cómo se usa el simulador</a:t>
            </a:r>
            <a:endParaRPr lang="en-US" sz="2200" dirty="0"/>
          </a:p>
        </p:txBody>
      </p:sp>
      <p:sp>
        <p:nvSpPr>
          <p:cNvPr id="24" name="Text 22"/>
          <p:cNvSpPr/>
          <p:nvPr/>
        </p:nvSpPr>
        <p:spPr>
          <a:xfrm>
            <a:off x="8395208" y="4246880"/>
            <a:ext cx="2806192" cy="1163320"/>
          </a:xfrm>
          <a:prstGeom prst="rect">
            <a:avLst/>
          </a:prstGeom>
          <a:noFill/>
          <a:ln/>
        </p:spPr>
        <p:txBody>
          <a:bodyPr wrap="square" lIns="0" tIns="0" rIns="0" bIns="0" rtlCol="0" anchor="t">
            <a:normAutofit/>
          </a:bodyPr>
          <a:lstStyle/>
          <a:p>
            <a:pPr marL="189992" indent="-189992" algn="l">
              <a:lnSpc>
                <a:spcPts val="2240"/>
              </a:lnSpc>
              <a:buSzPct val="100000"/>
              <a:buChar char="•"/>
            </a:pPr>
            <a:r>
              <a:rPr lang="en-US" sz="1600" dirty="0">
                <a:solidFill>
                  <a:srgbClr val="4A4B78"/>
                </a:solidFill>
                <a:latin typeface="Barlow" pitchFamily="34" charset="0"/>
                <a:ea typeface="Barlow" pitchFamily="34" charset="-122"/>
                <a:cs typeface="Barlow" pitchFamily="34" charset="-120"/>
              </a:rPr>
              <a:t>Los itinerarios</a:t>
            </a:r>
            <a:endParaRPr lang="en-US" sz="1600" dirty="0"/>
          </a:p>
          <a:p>
            <a:pPr marL="189992" indent="-189992" algn="l">
              <a:lnSpc>
                <a:spcPts val="2240"/>
              </a:lnSpc>
              <a:buSzPct val="100000"/>
              <a:buChar char="•"/>
            </a:pPr>
            <a:r>
              <a:rPr lang="en-US" sz="1600" dirty="0">
                <a:solidFill>
                  <a:srgbClr val="4A4B78"/>
                </a:solidFill>
                <a:latin typeface="Barlow" pitchFamily="34" charset="0"/>
                <a:ea typeface="Barlow" pitchFamily="34" charset="-122"/>
                <a:cs typeface="Barlow" pitchFamily="34" charset="-120"/>
              </a:rPr>
              <a:t>La guía paso a paso</a:t>
            </a:r>
            <a:endParaRPr lang="en-US" sz="1600" dirty="0"/>
          </a:p>
          <a:p>
            <a:pPr marL="189992" indent="-189992" algn="l">
              <a:lnSpc>
                <a:spcPts val="2240"/>
              </a:lnSpc>
              <a:buSzPct val="100000"/>
              <a:buChar char="•"/>
            </a:pPr>
            <a:r>
              <a:rPr lang="en-US" sz="1600" dirty="0">
                <a:solidFill>
                  <a:srgbClr val="4A4B78"/>
                </a:solidFill>
                <a:latin typeface="Barlow" pitchFamily="34" charset="0"/>
                <a:ea typeface="Barlow" pitchFamily="34" charset="-122"/>
                <a:cs typeface="Barlow" pitchFamily="34" charset="-120"/>
              </a:rPr>
              <a:t>Los errores a propósito</a:t>
            </a:r>
            <a:endParaRPr lang="en-US" sz="1600" dirty="0"/>
          </a:p>
          <a:p>
            <a:pPr marL="189992" indent="-189992" algn="l">
              <a:lnSpc>
                <a:spcPts val="2240"/>
              </a:lnSpc>
              <a:buSzPct val="100000"/>
              <a:buChar char="•"/>
            </a:pPr>
            <a:r>
              <a:rPr lang="en-US" sz="1600" dirty="0">
                <a:solidFill>
                  <a:srgbClr val="4A4B78"/>
                </a:solidFill>
                <a:latin typeface="Barlow" pitchFamily="34" charset="0"/>
                <a:ea typeface="Barlow" pitchFamily="34" charset="-122"/>
                <a:cs typeface="Barlow" pitchFamily="34" charset="-120"/>
              </a:rPr>
              <a:t>Los otros recursos</a:t>
            </a:r>
            <a:endParaRPr lang="en-US" sz="1600" dirty="0"/>
          </a:p>
        </p:txBody>
      </p:sp>
      <p:sp>
        <p:nvSpPr>
          <p:cNvPr id="25" name="Text 23"/>
          <p:cNvSpPr/>
          <p:nvPr/>
        </p:nvSpPr>
        <p:spPr>
          <a:xfrm>
            <a:off x="812800" y="6238241"/>
            <a:ext cx="78486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5C8C"/>
                </a:solidFill>
                <a:latin typeface="IBM Plex Mono" pitchFamily="49" charset="0"/>
                <a:ea typeface="IBM Plex Mono" pitchFamily="49" charset="-122"/>
                <a:cs typeface="IBM Plex Mono" pitchFamily="49" charset="-120"/>
              </a:rPr>
              <a:t>Antes de empezar · Capacitación IOL</a:t>
            </a:r>
            <a:endParaRPr lang="en-US" sz="1200" dirty="0"/>
          </a:p>
        </p:txBody>
      </p:sp>
      <p:sp>
        <p:nvSpPr>
          <p:cNvPr id="26" name="Text 24"/>
          <p:cNvSpPr/>
          <p:nvPr/>
        </p:nvSpPr>
        <p:spPr>
          <a:xfrm>
            <a:off x="9804400" y="6238241"/>
            <a:ext cx="1574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5C8C"/>
                </a:solidFill>
                <a:latin typeface="IBM Plex Mono" pitchFamily="49" charset="0"/>
                <a:ea typeface="IBM Plex Mono" pitchFamily="49" charset="-122"/>
                <a:cs typeface="IBM Plex Mono" pitchFamily="49" charset="-120"/>
              </a:rPr>
              <a:t>02 / 12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6439F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7F6FC"/>
                </a:solidFill>
                <a:latin typeface="IBM Plex Mono" pitchFamily="49" charset="0"/>
                <a:ea typeface="IBM Plex Mono" pitchFamily="49" charset="-122"/>
                <a:cs typeface="IBM Plex Mono" pitchFamily="49" charset="-120"/>
              </a:rPr>
              <a:t>01 · QUÉ ES ESTA CAPACITACIÓN</a:t>
            </a:r>
            <a:endParaRPr lang="en-US" sz="1200" dirty="0"/>
          </a:p>
        </p:txBody>
      </p:sp>
      <p:sp>
        <p:nvSpPr>
          <p:cNvPr id="3" name="Text 1"/>
          <p:cNvSpPr>
            <a:spLocks noGrp="1"/>
          </p:cNvSpPr>
          <p:nvPr>
            <p:ph type="title"/>
          </p:nvPr>
        </p:nvSpPr>
        <p:spPr>
          <a:xfrm>
            <a:off x="812800" y="1102361"/>
            <a:ext cx="10883392" cy="1076960"/>
          </a:xfrm>
          <a:prstGeom prst="rect">
            <a:avLst/>
          </a:prstGeom>
          <a:noFill/>
          <a:ln/>
        </p:spPr>
        <p:txBody>
          <a:bodyPr wrap="square" lIns="0" tIns="0" rIns="0" bIns="0" rtlCol="0" anchor="t">
            <a:normAutofit/>
          </a:bodyPr>
          <a:lstStyle/>
          <a:p>
            <a:pPr marL="0" indent="0" algn="l">
              <a:lnSpc>
                <a:spcPts val="4140"/>
              </a:lnSpc>
              <a:buNone/>
            </a:pPr>
            <a:r>
              <a:rPr lang="en-US" sz="3600" b="1" i="0" kern="0" spc="-50" dirty="0">
                <a:solidFill>
                  <a:srgbClr val="F7F6FC"/>
                </a:solidFill>
                <a:latin typeface="Barlow" pitchFamily="34" charset="0"/>
                <a:ea typeface="Barlow" pitchFamily="34" charset="-122"/>
                <a:cs typeface="Barlow" pitchFamily="34" charset="-120"/>
              </a:rPr>
              <a:t>Acá aprendés a usar la aplicación, no a elegir en qué invertir</a:t>
            </a:r>
            <a:endParaRPr lang="en-US" sz="3600" dirty="0"/>
          </a:p>
        </p:txBody>
      </p:sp>
      <p:sp>
        <p:nvSpPr>
          <p:cNvPr id="4" name="Shape 2"/>
          <p:cNvSpPr/>
          <p:nvPr/>
        </p:nvSpPr>
        <p:spPr>
          <a:xfrm>
            <a:off x="812800" y="2458720"/>
            <a:ext cx="10566400" cy="1366520"/>
          </a:xfrm>
          <a:prstGeom prst="roundRect">
            <a:avLst>
              <a:gd name="adj" fmla="val 5576"/>
            </a:avLst>
          </a:prstGeom>
          <a:solidFill>
            <a:srgbClr val="06083F"/>
          </a:solidFill>
          <a:ln/>
        </p:spPr>
        <p:txBody>
          <a:bodyPr/>
          <a:lstStyle/>
          <a:p>
            <a:endParaRPr lang="es-AR"/>
          </a:p>
        </p:txBody>
      </p:sp>
      <p:sp>
        <p:nvSpPr>
          <p:cNvPr id="5" name="Shape 3"/>
          <p:cNvSpPr/>
          <p:nvPr/>
        </p:nvSpPr>
        <p:spPr>
          <a:xfrm>
            <a:off x="812800" y="2458720"/>
            <a:ext cx="10566400" cy="1366520"/>
          </a:xfrm>
          <a:custGeom>
            <a:avLst/>
            <a:gdLst/>
            <a:ahLst/>
            <a:cxnLst/>
            <a:rect l="l" t="t" r="r" b="b"/>
            <a:pathLst>
              <a:path w="10566400" h="1366520">
                <a:moveTo>
                  <a:pt x="76200" y="1366520"/>
                </a:moveTo>
                <a:lnTo>
                  <a:pt x="76200" y="1366520"/>
                </a:lnTo>
                <a:arcTo wR="76200" hR="76200" stAng="5400000" swAng="5400000"/>
                <a:lnTo>
                  <a:pt x="0" y="76200"/>
                </a:lnTo>
                <a:arcTo wR="76200" hR="76200" stAng="10800000" swAng="5400000"/>
                <a:lnTo>
                  <a:pt x="76200" y="0"/>
                </a:lnTo>
                <a:arcTo wR="12700" hR="76200" stAng="16200000" swAng="-5400000"/>
                <a:lnTo>
                  <a:pt x="63500" y="1290320"/>
                </a:lnTo>
                <a:arcTo wR="12700" hR="76200" stAng="10800000" swAng="-5400000"/>
                <a:close/>
              </a:path>
            </a:pathLst>
          </a:custGeom>
          <a:solidFill>
            <a:srgbClr val="E8B23A"/>
          </a:solidFill>
          <a:ln/>
        </p:spPr>
        <p:txBody>
          <a:bodyPr/>
          <a:lstStyle/>
          <a:p>
            <a:endParaRPr lang="es-AR"/>
          </a:p>
        </p:txBody>
      </p:sp>
      <p:sp>
        <p:nvSpPr>
          <p:cNvPr id="6" name="Text 4"/>
          <p:cNvSpPr/>
          <p:nvPr/>
        </p:nvSpPr>
        <p:spPr>
          <a:xfrm>
            <a:off x="1178560" y="2712720"/>
            <a:ext cx="10192715"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E8B23A"/>
                </a:solidFill>
                <a:latin typeface="IBM Plex Mono" pitchFamily="49" charset="0"/>
                <a:ea typeface="IBM Plex Mono" pitchFamily="49" charset="-122"/>
                <a:cs typeface="IBM Plex Mono" pitchFamily="49" charset="-120"/>
              </a:rPr>
              <a:t>IMPORTANTE</a:t>
            </a:r>
            <a:endParaRPr lang="en-US" sz="1200" dirty="0"/>
          </a:p>
        </p:txBody>
      </p:sp>
      <p:sp>
        <p:nvSpPr>
          <p:cNvPr id="7" name="Text 5"/>
          <p:cNvSpPr/>
          <p:nvPr/>
        </p:nvSpPr>
        <p:spPr>
          <a:xfrm>
            <a:off x="1178560" y="3002280"/>
            <a:ext cx="10192715" cy="594360"/>
          </a:xfrm>
          <a:prstGeom prst="rect">
            <a:avLst/>
          </a:prstGeom>
          <a:noFill/>
          <a:ln/>
        </p:spPr>
        <p:txBody>
          <a:bodyPr wrap="square" lIns="0" tIns="0" rIns="0" bIns="0" rtlCol="0" anchor="t">
            <a:normAutofit/>
          </a:bodyPr>
          <a:lstStyle/>
          <a:p>
            <a:pPr marL="0" indent="0" algn="l">
              <a:lnSpc>
                <a:spcPts val="2240"/>
              </a:lnSpc>
              <a:buNone/>
            </a:pPr>
            <a:r>
              <a:rPr lang="en-US" sz="1600" b="1" kern="0" spc="50" dirty="0">
                <a:solidFill>
                  <a:srgbClr val="F7F6FC"/>
                </a:solidFill>
                <a:latin typeface="Barlow" pitchFamily="34" charset="0"/>
                <a:ea typeface="Barlow" pitchFamily="34" charset="-122"/>
                <a:cs typeface="Barlow" pitchFamily="34" charset="-120"/>
              </a:rPr>
              <a:t>NADA DE LO QUE SE ENSEÑA VIENE RELACIONADO A LA RECOMENDACIÓN DE CÓMO INVERTIR O QUÉ ACCIONES EJECUTAR.</a:t>
            </a:r>
            <a:endParaRPr lang="en-US" sz="1600" dirty="0"/>
          </a:p>
        </p:txBody>
      </p:sp>
      <p:sp>
        <p:nvSpPr>
          <p:cNvPr id="8" name="Text 6"/>
          <p:cNvSpPr/>
          <p:nvPr/>
        </p:nvSpPr>
        <p:spPr>
          <a:xfrm>
            <a:off x="812800" y="4130041"/>
            <a:ext cx="10883392" cy="5943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7F6FC"/>
                </a:solidFill>
                <a:latin typeface="Barlow" pitchFamily="34" charset="0"/>
                <a:ea typeface="Barlow" pitchFamily="34" charset="-122"/>
                <a:cs typeface="Barlow" pitchFamily="34" charset="-120"/>
              </a:rPr>
              <a:t>Damos por hecho que ya sabés qué es un CEDEAR, un bono o el dólar MEP. Acá te mostramos dónde está cada cosa y cómo se opera.</a:t>
            </a:r>
            <a:endParaRPr lang="en-US" sz="1600" dirty="0"/>
          </a:p>
        </p:txBody>
      </p:sp>
      <p:sp>
        <p:nvSpPr>
          <p:cNvPr id="9" name="Text 7"/>
          <p:cNvSpPr/>
          <p:nvPr/>
        </p:nvSpPr>
        <p:spPr>
          <a:xfrm>
            <a:off x="812800" y="5003800"/>
            <a:ext cx="1668145" cy="487680"/>
          </a:xfrm>
          <a:prstGeom prst="roundRect">
            <a:avLst>
              <a:gd name="adj" fmla="val 50000"/>
            </a:avLst>
          </a:prstGeom>
          <a:solidFill>
            <a:srgbClr val="3D1B88"/>
          </a:solidFill>
          <a:ln/>
        </p:spPr>
        <p:txBody>
          <a:bodyPr wrap="none" lIns="0" tIns="0" rIns="0" bIns="0" rtlCol="0" anchor="ctr">
            <a:normAutofit/>
          </a:bodyPr>
          <a:lstStyle/>
          <a:p>
            <a:pPr marL="0" indent="0" algn="ctr">
              <a:lnSpc>
                <a:spcPts val="2240"/>
              </a:lnSpc>
              <a:buNone/>
            </a:pPr>
            <a:r>
              <a:rPr lang="en-US" sz="1600" b="1" dirty="0">
                <a:solidFill>
                  <a:srgbClr val="F7F6FC"/>
                </a:solidFill>
                <a:latin typeface="Barlow" pitchFamily="34" charset="0"/>
                <a:ea typeface="Barlow" pitchFamily="34" charset="-122"/>
                <a:cs typeface="Barlow" pitchFamily="34" charset="-120"/>
              </a:rPr>
              <a:t>Dinero ficticio</a:t>
            </a:r>
            <a:endParaRPr lang="en-US" sz="1600" dirty="0"/>
          </a:p>
        </p:txBody>
      </p:sp>
      <p:sp>
        <p:nvSpPr>
          <p:cNvPr id="10" name="Text 8"/>
          <p:cNvSpPr/>
          <p:nvPr/>
        </p:nvSpPr>
        <p:spPr>
          <a:xfrm>
            <a:off x="2582545" y="5003800"/>
            <a:ext cx="2036921" cy="487680"/>
          </a:xfrm>
          <a:prstGeom prst="roundRect">
            <a:avLst>
              <a:gd name="adj" fmla="val 50000"/>
            </a:avLst>
          </a:prstGeom>
          <a:solidFill>
            <a:srgbClr val="3D1B88"/>
          </a:solidFill>
          <a:ln/>
        </p:spPr>
        <p:txBody>
          <a:bodyPr wrap="none" lIns="0" tIns="0" rIns="0" bIns="0" rtlCol="0" anchor="ctr">
            <a:normAutofit/>
          </a:bodyPr>
          <a:lstStyle/>
          <a:p>
            <a:pPr marL="0" indent="0" algn="ctr">
              <a:lnSpc>
                <a:spcPts val="2240"/>
              </a:lnSpc>
              <a:buNone/>
            </a:pPr>
            <a:r>
              <a:rPr lang="en-US" sz="1600" b="1" dirty="0">
                <a:solidFill>
                  <a:srgbClr val="F7F6FC"/>
                </a:solidFill>
                <a:latin typeface="Barlow" pitchFamily="34" charset="0"/>
                <a:ea typeface="Barlow" pitchFamily="34" charset="-122"/>
                <a:cs typeface="Barlow" pitchFamily="34" charset="-120"/>
              </a:rPr>
              <a:t>Precios simulados</a:t>
            </a:r>
            <a:endParaRPr lang="en-US" sz="1600" dirty="0"/>
          </a:p>
        </p:txBody>
      </p:sp>
      <p:sp>
        <p:nvSpPr>
          <p:cNvPr id="11" name="Text 9"/>
          <p:cNvSpPr/>
          <p:nvPr/>
        </p:nvSpPr>
        <p:spPr>
          <a:xfrm>
            <a:off x="4721066" y="5003800"/>
            <a:ext cx="2209403" cy="487680"/>
          </a:xfrm>
          <a:prstGeom prst="roundRect">
            <a:avLst>
              <a:gd name="adj" fmla="val 50000"/>
            </a:avLst>
          </a:prstGeom>
          <a:solidFill>
            <a:srgbClr val="3D1B88"/>
          </a:solidFill>
          <a:ln/>
        </p:spPr>
        <p:txBody>
          <a:bodyPr wrap="none" lIns="0" tIns="0" rIns="0" bIns="0" rtlCol="0" anchor="ctr">
            <a:normAutofit/>
          </a:bodyPr>
          <a:lstStyle/>
          <a:p>
            <a:pPr marL="0" indent="0" algn="ctr">
              <a:lnSpc>
                <a:spcPts val="2240"/>
              </a:lnSpc>
              <a:buNone/>
            </a:pPr>
            <a:r>
              <a:rPr lang="en-US" sz="1600" b="1" dirty="0">
                <a:solidFill>
                  <a:srgbClr val="F7F6FC"/>
                </a:solidFill>
                <a:latin typeface="Barlow" pitchFamily="34" charset="0"/>
                <a:ea typeface="Barlow" pitchFamily="34" charset="-122"/>
                <a:cs typeface="Barlow" pitchFamily="34" charset="-120"/>
              </a:rPr>
              <a:t>Tiempos acelerados</a:t>
            </a:r>
            <a:endParaRPr lang="en-US" sz="1600" dirty="0"/>
          </a:p>
        </p:txBody>
      </p:sp>
      <p:sp>
        <p:nvSpPr>
          <p:cNvPr id="12" name="Text 10"/>
          <p:cNvSpPr/>
          <p:nvPr/>
        </p:nvSpPr>
        <p:spPr>
          <a:xfrm>
            <a:off x="812800" y="6238241"/>
            <a:ext cx="78486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7F6FC"/>
                </a:solidFill>
                <a:latin typeface="IBM Plex Mono" pitchFamily="49" charset="0"/>
                <a:ea typeface="IBM Plex Mono" pitchFamily="49" charset="-122"/>
                <a:cs typeface="IBM Plex Mono" pitchFamily="49" charset="-120"/>
              </a:rPr>
              <a:t>Antes de empezar · Capacitación IOL</a:t>
            </a:r>
            <a:endParaRPr lang="en-US" sz="1200" dirty="0"/>
          </a:p>
        </p:txBody>
      </p:sp>
      <p:sp>
        <p:nvSpPr>
          <p:cNvPr id="13" name="Text 11"/>
          <p:cNvSpPr/>
          <p:nvPr/>
        </p:nvSpPr>
        <p:spPr>
          <a:xfrm>
            <a:off x="9804400" y="6238241"/>
            <a:ext cx="1574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F7F6FC"/>
                </a:solidFill>
                <a:latin typeface="IBM Plex Mono" pitchFamily="49" charset="0"/>
                <a:ea typeface="IBM Plex Mono" pitchFamily="49" charset="-122"/>
                <a:cs typeface="IBM Plex Mono" pitchFamily="49" charset="-120"/>
              </a:rPr>
              <a:t>04 / 12</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6F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6439FF"/>
                </a:solidFill>
                <a:latin typeface="IBM Plex Mono" pitchFamily="49" charset="0"/>
                <a:ea typeface="IBM Plex Mono" pitchFamily="49" charset="-122"/>
                <a:cs typeface="IBM Plex Mono" pitchFamily="49" charset="-120"/>
              </a:rPr>
              <a:t>02 · QUÉ VAS A APRENDER</a:t>
            </a:r>
            <a:endParaRPr lang="en-US" sz="1200" dirty="0"/>
          </a:p>
        </p:txBody>
      </p:sp>
      <p:sp>
        <p:nvSpPr>
          <p:cNvPr id="3" name="Text 1"/>
          <p:cNvSpPr>
            <a:spLocks noGrp="1"/>
          </p:cNvSpPr>
          <p:nvPr>
            <p:ph type="title"/>
          </p:nvPr>
        </p:nvSpPr>
        <p:spPr>
          <a:xfrm>
            <a:off x="812800" y="1102361"/>
            <a:ext cx="10883392" cy="551180"/>
          </a:xfrm>
          <a:prstGeom prst="rect">
            <a:avLst/>
          </a:prstGeom>
          <a:noFill/>
          <a:ln/>
        </p:spPr>
        <p:txBody>
          <a:bodyPr wrap="square" lIns="0" tIns="0" rIns="0" bIns="0" rtlCol="0" anchor="t">
            <a:normAutofit/>
          </a:bodyPr>
          <a:lstStyle/>
          <a:p>
            <a:pPr marL="0" indent="0" algn="l">
              <a:lnSpc>
                <a:spcPts val="4140"/>
              </a:lnSpc>
              <a:buNone/>
            </a:pPr>
            <a:r>
              <a:rPr lang="en-US" sz="3600" b="1" i="0" kern="0" spc="-50" dirty="0">
                <a:solidFill>
                  <a:srgbClr val="06083F"/>
                </a:solidFill>
                <a:latin typeface="Barlow" pitchFamily="34" charset="0"/>
                <a:ea typeface="Barlow" pitchFamily="34" charset="-122"/>
                <a:cs typeface="Barlow" pitchFamily="34" charset="-120"/>
              </a:rPr>
              <a:t>El ciclo completo de una inversión</a:t>
            </a:r>
            <a:endParaRPr lang="en-US" sz="3600" dirty="0"/>
          </a:p>
        </p:txBody>
      </p:sp>
      <p:sp>
        <p:nvSpPr>
          <p:cNvPr id="4" name="Shape 2"/>
          <p:cNvSpPr/>
          <p:nvPr/>
        </p:nvSpPr>
        <p:spPr>
          <a:xfrm>
            <a:off x="812800" y="2032000"/>
            <a:ext cx="1422400" cy="2540000"/>
          </a:xfrm>
          <a:prstGeom prst="roundRect">
            <a:avLst>
              <a:gd name="adj" fmla="val 7143"/>
            </a:avLst>
          </a:prstGeom>
          <a:solidFill>
            <a:srgbClr val="EEEDF8"/>
          </a:solidFill>
          <a:ln/>
        </p:spPr>
        <p:txBody>
          <a:bodyPr/>
          <a:lstStyle/>
          <a:p>
            <a:endParaRPr lang="es-AR"/>
          </a:p>
        </p:txBody>
      </p:sp>
      <p:sp>
        <p:nvSpPr>
          <p:cNvPr id="5" name="Text 3"/>
          <p:cNvSpPr/>
          <p:nvPr/>
        </p:nvSpPr>
        <p:spPr>
          <a:xfrm>
            <a:off x="939800" y="2184400"/>
            <a:ext cx="355600" cy="355600"/>
          </a:xfrm>
          <a:custGeom>
            <a:avLst/>
            <a:gdLst/>
            <a:ahLst/>
            <a:cxnLst/>
            <a:rect l="l" t="t" r="r" b="b"/>
            <a:pathLst>
              <a:path w="355600" h="355600">
                <a:moveTo>
                  <a:pt x="177800" y="0"/>
                </a:moveTo>
                <a:lnTo>
                  <a:pt x="177800" y="0"/>
                </a:lnTo>
                <a:arcTo wR="177800" hR="177800" stAng="16200000" swAng="5400000"/>
                <a:lnTo>
                  <a:pt x="355600" y="177800"/>
                </a:lnTo>
                <a:arcTo wR="177800" hR="177800" stAng="0" swAng="5400000"/>
                <a:lnTo>
                  <a:pt x="177800" y="355600"/>
                </a:lnTo>
                <a:arcTo wR="177800" hR="177800" stAng="5400000" swAng="5400000"/>
                <a:lnTo>
                  <a:pt x="0" y="177800"/>
                </a:lnTo>
                <a:arcTo wR="177800" hR="177800" stAng="10800000" swAng="5400000"/>
                <a:close/>
              </a:path>
            </a:pathLst>
          </a:custGeom>
          <a:solidFill>
            <a:srgbClr val="6439FF"/>
          </a:solidFill>
          <a:ln/>
        </p:spPr>
        <p:txBody>
          <a:bodyPr wrap="square" lIns="0" tIns="0" rIns="0" bIns="0" rtlCol="0" anchor="t">
            <a:normAutofit/>
          </a:bodyPr>
          <a:lstStyle/>
          <a:p>
            <a:pPr marL="0" indent="0" algn="ctr">
              <a:lnSpc>
                <a:spcPts val="2800"/>
              </a:lnSpc>
              <a:buNone/>
            </a:pPr>
            <a:r>
              <a:rPr lang="en-US" sz="1600" b="1" dirty="0">
                <a:solidFill>
                  <a:srgbClr val="F7F6FC"/>
                </a:solidFill>
                <a:latin typeface="Barlow" pitchFamily="34" charset="0"/>
                <a:ea typeface="Barlow" pitchFamily="34" charset="-122"/>
                <a:cs typeface="Barlow" pitchFamily="34" charset="-120"/>
              </a:rPr>
              <a:t>1</a:t>
            </a:r>
            <a:endParaRPr lang="en-US" sz="1600" dirty="0"/>
          </a:p>
        </p:txBody>
      </p:sp>
      <p:sp>
        <p:nvSpPr>
          <p:cNvPr id="6" name="Text 4"/>
          <p:cNvSpPr/>
          <p:nvPr/>
        </p:nvSpPr>
        <p:spPr>
          <a:xfrm>
            <a:off x="939800" y="2616200"/>
            <a:ext cx="1219200"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6439FF"/>
                </a:solidFill>
                <a:latin typeface="IBM Plex Mono" pitchFamily="49" charset="0"/>
                <a:ea typeface="IBM Plex Mono" pitchFamily="49" charset="-122"/>
                <a:cs typeface="IBM Plex Mono" pitchFamily="49" charset="-120"/>
              </a:rPr>
              <a:t>M2</a:t>
            </a:r>
            <a:endParaRPr lang="en-US" sz="1200" dirty="0"/>
          </a:p>
        </p:txBody>
      </p:sp>
      <p:sp>
        <p:nvSpPr>
          <p:cNvPr id="7" name="Text 5"/>
          <p:cNvSpPr/>
          <p:nvPr/>
        </p:nvSpPr>
        <p:spPr>
          <a:xfrm>
            <a:off x="939800" y="2905761"/>
            <a:ext cx="1219200" cy="5130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6083F"/>
                </a:solidFill>
                <a:latin typeface="Barlow" pitchFamily="34" charset="0"/>
                <a:ea typeface="Barlow" pitchFamily="34" charset="-122"/>
                <a:cs typeface="Barlow" pitchFamily="34" charset="-120"/>
              </a:rPr>
              <a:t>Ingresar dinero</a:t>
            </a:r>
            <a:endParaRPr lang="en-US" sz="1600" dirty="0"/>
          </a:p>
        </p:txBody>
      </p:sp>
      <p:sp>
        <p:nvSpPr>
          <p:cNvPr id="8" name="Text 6"/>
          <p:cNvSpPr/>
          <p:nvPr/>
        </p:nvSpPr>
        <p:spPr>
          <a:xfrm>
            <a:off x="939800" y="3469641"/>
            <a:ext cx="1219200" cy="66548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4B78"/>
                </a:solidFill>
                <a:latin typeface="Barlow" pitchFamily="34" charset="0"/>
                <a:ea typeface="Barlow" pitchFamily="34" charset="-122"/>
                <a:cs typeface="Barlow" pitchFamily="34" charset="-120"/>
              </a:rPr>
              <a:t>Desde tu banco a tu cuenta de inversión.</a:t>
            </a:r>
            <a:endParaRPr lang="en-US" sz="1200" dirty="0"/>
          </a:p>
        </p:txBody>
      </p:sp>
      <p:pic>
        <p:nvPicPr>
          <p:cNvPr id="9" name="Image 0" descr="arrow-right"/>
          <p:cNvPicPr>
            <a:picLocks noChangeAspect="1"/>
          </p:cNvPicPr>
          <p:nvPr/>
        </p:nvPicPr>
        <p:blipFill>
          <a:blip r:embed="rId3"/>
          <a:srcRect/>
          <a:stretch/>
        </p:blipFill>
        <p:spPr>
          <a:xfrm>
            <a:off x="2311400" y="2286000"/>
            <a:ext cx="254000" cy="152400"/>
          </a:xfrm>
          <a:prstGeom prst="rect">
            <a:avLst/>
          </a:prstGeom>
        </p:spPr>
      </p:pic>
      <p:sp>
        <p:nvSpPr>
          <p:cNvPr id="10" name="Shape 7"/>
          <p:cNvSpPr/>
          <p:nvPr/>
        </p:nvSpPr>
        <p:spPr>
          <a:xfrm>
            <a:off x="2641600" y="2032000"/>
            <a:ext cx="1422400" cy="2540000"/>
          </a:xfrm>
          <a:prstGeom prst="roundRect">
            <a:avLst>
              <a:gd name="adj" fmla="val 7143"/>
            </a:avLst>
          </a:prstGeom>
          <a:solidFill>
            <a:srgbClr val="EEEDF8"/>
          </a:solidFill>
          <a:ln/>
        </p:spPr>
        <p:txBody>
          <a:bodyPr/>
          <a:lstStyle/>
          <a:p>
            <a:endParaRPr lang="es-AR"/>
          </a:p>
        </p:txBody>
      </p:sp>
      <p:sp>
        <p:nvSpPr>
          <p:cNvPr id="11" name="Text 8"/>
          <p:cNvSpPr/>
          <p:nvPr/>
        </p:nvSpPr>
        <p:spPr>
          <a:xfrm>
            <a:off x="2768600" y="2184400"/>
            <a:ext cx="355600" cy="355600"/>
          </a:xfrm>
          <a:custGeom>
            <a:avLst/>
            <a:gdLst/>
            <a:ahLst/>
            <a:cxnLst/>
            <a:rect l="l" t="t" r="r" b="b"/>
            <a:pathLst>
              <a:path w="355600" h="355600">
                <a:moveTo>
                  <a:pt x="177800" y="0"/>
                </a:moveTo>
                <a:lnTo>
                  <a:pt x="177800" y="0"/>
                </a:lnTo>
                <a:arcTo wR="177800" hR="177800" stAng="16200000" swAng="5400000"/>
                <a:lnTo>
                  <a:pt x="355600" y="177800"/>
                </a:lnTo>
                <a:arcTo wR="177800" hR="177800" stAng="0" swAng="5400000"/>
                <a:lnTo>
                  <a:pt x="177800" y="355600"/>
                </a:lnTo>
                <a:arcTo wR="177800" hR="177800" stAng="5400000" swAng="5400000"/>
                <a:lnTo>
                  <a:pt x="0" y="177800"/>
                </a:lnTo>
                <a:arcTo wR="177800" hR="177800" stAng="10800000" swAng="5400000"/>
                <a:close/>
              </a:path>
            </a:pathLst>
          </a:custGeom>
          <a:solidFill>
            <a:srgbClr val="6439FF"/>
          </a:solidFill>
          <a:ln/>
        </p:spPr>
        <p:txBody>
          <a:bodyPr wrap="square" lIns="0" tIns="0" rIns="0" bIns="0" rtlCol="0" anchor="t">
            <a:normAutofit/>
          </a:bodyPr>
          <a:lstStyle/>
          <a:p>
            <a:pPr marL="0" indent="0" algn="ctr">
              <a:lnSpc>
                <a:spcPts val="2800"/>
              </a:lnSpc>
              <a:buNone/>
            </a:pPr>
            <a:r>
              <a:rPr lang="en-US" sz="1600" b="1" dirty="0">
                <a:solidFill>
                  <a:srgbClr val="F7F6FC"/>
                </a:solidFill>
                <a:latin typeface="Barlow" pitchFamily="34" charset="0"/>
                <a:ea typeface="Barlow" pitchFamily="34" charset="-122"/>
                <a:cs typeface="Barlow" pitchFamily="34" charset="-120"/>
              </a:rPr>
              <a:t>2</a:t>
            </a:r>
            <a:endParaRPr lang="en-US" sz="1600" dirty="0"/>
          </a:p>
        </p:txBody>
      </p:sp>
      <p:sp>
        <p:nvSpPr>
          <p:cNvPr id="12" name="Text 9"/>
          <p:cNvSpPr/>
          <p:nvPr/>
        </p:nvSpPr>
        <p:spPr>
          <a:xfrm>
            <a:off x="2768600" y="2616200"/>
            <a:ext cx="1219200"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6439FF"/>
                </a:solidFill>
                <a:latin typeface="IBM Plex Mono" pitchFamily="49" charset="0"/>
                <a:ea typeface="IBM Plex Mono" pitchFamily="49" charset="-122"/>
                <a:cs typeface="IBM Plex Mono" pitchFamily="49" charset="-120"/>
              </a:rPr>
              <a:t>M3</a:t>
            </a:r>
            <a:endParaRPr lang="en-US" sz="1200" dirty="0"/>
          </a:p>
        </p:txBody>
      </p:sp>
      <p:sp>
        <p:nvSpPr>
          <p:cNvPr id="13" name="Text 10"/>
          <p:cNvSpPr/>
          <p:nvPr/>
        </p:nvSpPr>
        <p:spPr>
          <a:xfrm>
            <a:off x="2768600" y="2905761"/>
            <a:ext cx="1219200" cy="5130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6083F"/>
                </a:solidFill>
                <a:latin typeface="Barlow" pitchFamily="34" charset="0"/>
                <a:ea typeface="Barlow" pitchFamily="34" charset="-122"/>
                <a:cs typeface="Barlow" pitchFamily="34" charset="-120"/>
              </a:rPr>
              <a:t>Comprar dólar MEP</a:t>
            </a:r>
            <a:endParaRPr lang="en-US" sz="1600" dirty="0"/>
          </a:p>
        </p:txBody>
      </p:sp>
      <p:sp>
        <p:nvSpPr>
          <p:cNvPr id="14" name="Text 11"/>
          <p:cNvSpPr/>
          <p:nvPr/>
        </p:nvSpPr>
        <p:spPr>
          <a:xfrm>
            <a:off x="2768600" y="3469641"/>
            <a:ext cx="1219200" cy="87884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4B78"/>
                </a:solidFill>
                <a:latin typeface="Barlow" pitchFamily="34" charset="0"/>
                <a:ea typeface="Barlow" pitchFamily="34" charset="-122"/>
                <a:cs typeface="Barlow" pitchFamily="34" charset="-120"/>
              </a:rPr>
              <a:t>Pesos a dólares, con dos operaciones de bonos.</a:t>
            </a:r>
            <a:endParaRPr lang="en-US" sz="1200" dirty="0"/>
          </a:p>
        </p:txBody>
      </p:sp>
      <p:pic>
        <p:nvPicPr>
          <p:cNvPr id="15" name="Image 1" descr="arrow-right"/>
          <p:cNvPicPr>
            <a:picLocks noChangeAspect="1"/>
          </p:cNvPicPr>
          <p:nvPr/>
        </p:nvPicPr>
        <p:blipFill>
          <a:blip r:embed="rId3"/>
          <a:srcRect/>
          <a:stretch/>
        </p:blipFill>
        <p:spPr>
          <a:xfrm>
            <a:off x="4140200" y="2286000"/>
            <a:ext cx="254000" cy="152400"/>
          </a:xfrm>
          <a:prstGeom prst="rect">
            <a:avLst/>
          </a:prstGeom>
        </p:spPr>
      </p:pic>
      <p:sp>
        <p:nvSpPr>
          <p:cNvPr id="16" name="Shape 12"/>
          <p:cNvSpPr/>
          <p:nvPr/>
        </p:nvSpPr>
        <p:spPr>
          <a:xfrm>
            <a:off x="4470400" y="2032000"/>
            <a:ext cx="1422400" cy="2540000"/>
          </a:xfrm>
          <a:prstGeom prst="roundRect">
            <a:avLst>
              <a:gd name="adj" fmla="val 7143"/>
            </a:avLst>
          </a:prstGeom>
          <a:solidFill>
            <a:srgbClr val="EEEDF8"/>
          </a:solidFill>
          <a:ln/>
        </p:spPr>
        <p:txBody>
          <a:bodyPr/>
          <a:lstStyle/>
          <a:p>
            <a:endParaRPr lang="es-AR"/>
          </a:p>
        </p:txBody>
      </p:sp>
      <p:sp>
        <p:nvSpPr>
          <p:cNvPr id="17" name="Text 13"/>
          <p:cNvSpPr/>
          <p:nvPr/>
        </p:nvSpPr>
        <p:spPr>
          <a:xfrm>
            <a:off x="4597400" y="2184400"/>
            <a:ext cx="355600" cy="355600"/>
          </a:xfrm>
          <a:custGeom>
            <a:avLst/>
            <a:gdLst/>
            <a:ahLst/>
            <a:cxnLst/>
            <a:rect l="l" t="t" r="r" b="b"/>
            <a:pathLst>
              <a:path w="355600" h="355600">
                <a:moveTo>
                  <a:pt x="177800" y="0"/>
                </a:moveTo>
                <a:lnTo>
                  <a:pt x="177800" y="0"/>
                </a:lnTo>
                <a:arcTo wR="177800" hR="177800" stAng="16200000" swAng="5400000"/>
                <a:lnTo>
                  <a:pt x="355600" y="177800"/>
                </a:lnTo>
                <a:arcTo wR="177800" hR="177800" stAng="0" swAng="5400000"/>
                <a:lnTo>
                  <a:pt x="177800" y="355600"/>
                </a:lnTo>
                <a:arcTo wR="177800" hR="177800" stAng="5400000" swAng="5400000"/>
                <a:lnTo>
                  <a:pt x="0" y="177800"/>
                </a:lnTo>
                <a:arcTo wR="177800" hR="177800" stAng="10800000" swAng="5400000"/>
                <a:close/>
              </a:path>
            </a:pathLst>
          </a:custGeom>
          <a:solidFill>
            <a:srgbClr val="6439FF"/>
          </a:solidFill>
          <a:ln/>
        </p:spPr>
        <p:txBody>
          <a:bodyPr wrap="square" lIns="0" tIns="0" rIns="0" bIns="0" rtlCol="0" anchor="t">
            <a:normAutofit/>
          </a:bodyPr>
          <a:lstStyle/>
          <a:p>
            <a:pPr marL="0" indent="0" algn="ctr">
              <a:lnSpc>
                <a:spcPts val="2800"/>
              </a:lnSpc>
              <a:buNone/>
            </a:pPr>
            <a:r>
              <a:rPr lang="en-US" sz="1600" b="1" dirty="0">
                <a:solidFill>
                  <a:srgbClr val="F7F6FC"/>
                </a:solidFill>
                <a:latin typeface="Barlow" pitchFamily="34" charset="0"/>
                <a:ea typeface="Barlow" pitchFamily="34" charset="-122"/>
                <a:cs typeface="Barlow" pitchFamily="34" charset="-120"/>
              </a:rPr>
              <a:t>3</a:t>
            </a:r>
            <a:endParaRPr lang="en-US" sz="1600" dirty="0"/>
          </a:p>
        </p:txBody>
      </p:sp>
      <p:sp>
        <p:nvSpPr>
          <p:cNvPr id="18" name="Text 14"/>
          <p:cNvSpPr/>
          <p:nvPr/>
        </p:nvSpPr>
        <p:spPr>
          <a:xfrm>
            <a:off x="4597400" y="2616200"/>
            <a:ext cx="1219200"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6439FF"/>
                </a:solidFill>
                <a:latin typeface="IBM Plex Mono" pitchFamily="49" charset="0"/>
                <a:ea typeface="IBM Plex Mono" pitchFamily="49" charset="-122"/>
                <a:cs typeface="IBM Plex Mono" pitchFamily="49" charset="-120"/>
              </a:rPr>
              <a:t>M4</a:t>
            </a:r>
            <a:endParaRPr lang="en-US" sz="1200" dirty="0"/>
          </a:p>
        </p:txBody>
      </p:sp>
      <p:sp>
        <p:nvSpPr>
          <p:cNvPr id="19" name="Text 15"/>
          <p:cNvSpPr/>
          <p:nvPr/>
        </p:nvSpPr>
        <p:spPr>
          <a:xfrm>
            <a:off x="4597400" y="2905761"/>
            <a:ext cx="1219200"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6083F"/>
                </a:solidFill>
                <a:latin typeface="Barlow" pitchFamily="34" charset="0"/>
                <a:ea typeface="Barlow" pitchFamily="34" charset="-122"/>
                <a:cs typeface="Barlow" pitchFamily="34" charset="-120"/>
              </a:rPr>
              <a:t>Comprar</a:t>
            </a:r>
            <a:endParaRPr lang="en-US" sz="1600" dirty="0"/>
          </a:p>
        </p:txBody>
      </p:sp>
      <p:sp>
        <p:nvSpPr>
          <p:cNvPr id="20" name="Text 16"/>
          <p:cNvSpPr/>
          <p:nvPr/>
        </p:nvSpPr>
        <p:spPr>
          <a:xfrm>
            <a:off x="4597400" y="3225800"/>
            <a:ext cx="1219200" cy="87884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4B78"/>
                </a:solidFill>
                <a:latin typeface="Barlow" pitchFamily="34" charset="0"/>
                <a:ea typeface="Barlow" pitchFamily="34" charset="-122"/>
                <a:cs typeface="Barlow" pitchFamily="34" charset="-120"/>
              </a:rPr>
              <a:t>Acciones, CEDEARs u obligaciones negociables.</a:t>
            </a:r>
            <a:endParaRPr lang="en-US" sz="1200" dirty="0"/>
          </a:p>
        </p:txBody>
      </p:sp>
      <p:pic>
        <p:nvPicPr>
          <p:cNvPr id="21" name="Image 2" descr="arrow-right"/>
          <p:cNvPicPr>
            <a:picLocks noChangeAspect="1"/>
          </p:cNvPicPr>
          <p:nvPr/>
        </p:nvPicPr>
        <p:blipFill>
          <a:blip r:embed="rId3"/>
          <a:srcRect/>
          <a:stretch/>
        </p:blipFill>
        <p:spPr>
          <a:xfrm>
            <a:off x="5969000" y="2286000"/>
            <a:ext cx="254000" cy="152400"/>
          </a:xfrm>
          <a:prstGeom prst="rect">
            <a:avLst/>
          </a:prstGeom>
        </p:spPr>
      </p:pic>
      <p:sp>
        <p:nvSpPr>
          <p:cNvPr id="22" name="Shape 17"/>
          <p:cNvSpPr/>
          <p:nvPr/>
        </p:nvSpPr>
        <p:spPr>
          <a:xfrm>
            <a:off x="6299200" y="2032000"/>
            <a:ext cx="1422400" cy="2540000"/>
          </a:xfrm>
          <a:prstGeom prst="roundRect">
            <a:avLst>
              <a:gd name="adj" fmla="val 7143"/>
            </a:avLst>
          </a:prstGeom>
          <a:solidFill>
            <a:srgbClr val="EEEDF8"/>
          </a:solidFill>
          <a:ln/>
        </p:spPr>
        <p:txBody>
          <a:bodyPr/>
          <a:lstStyle/>
          <a:p>
            <a:endParaRPr lang="es-AR"/>
          </a:p>
        </p:txBody>
      </p:sp>
      <p:sp>
        <p:nvSpPr>
          <p:cNvPr id="23" name="Text 18"/>
          <p:cNvSpPr/>
          <p:nvPr/>
        </p:nvSpPr>
        <p:spPr>
          <a:xfrm>
            <a:off x="6426200" y="2184400"/>
            <a:ext cx="355600" cy="355600"/>
          </a:xfrm>
          <a:custGeom>
            <a:avLst/>
            <a:gdLst/>
            <a:ahLst/>
            <a:cxnLst/>
            <a:rect l="l" t="t" r="r" b="b"/>
            <a:pathLst>
              <a:path w="355600" h="355600">
                <a:moveTo>
                  <a:pt x="177800" y="0"/>
                </a:moveTo>
                <a:lnTo>
                  <a:pt x="177800" y="0"/>
                </a:lnTo>
                <a:arcTo wR="177800" hR="177800" stAng="16200000" swAng="5400000"/>
                <a:lnTo>
                  <a:pt x="355600" y="177800"/>
                </a:lnTo>
                <a:arcTo wR="177800" hR="177800" stAng="0" swAng="5400000"/>
                <a:lnTo>
                  <a:pt x="177800" y="355600"/>
                </a:lnTo>
                <a:arcTo wR="177800" hR="177800" stAng="5400000" swAng="5400000"/>
                <a:lnTo>
                  <a:pt x="0" y="177800"/>
                </a:lnTo>
                <a:arcTo wR="177800" hR="177800" stAng="10800000" swAng="5400000"/>
                <a:close/>
              </a:path>
            </a:pathLst>
          </a:custGeom>
          <a:solidFill>
            <a:srgbClr val="6439FF"/>
          </a:solidFill>
          <a:ln/>
        </p:spPr>
        <p:txBody>
          <a:bodyPr wrap="square" lIns="0" tIns="0" rIns="0" bIns="0" rtlCol="0" anchor="t">
            <a:normAutofit/>
          </a:bodyPr>
          <a:lstStyle/>
          <a:p>
            <a:pPr marL="0" indent="0" algn="ctr">
              <a:lnSpc>
                <a:spcPts val="2800"/>
              </a:lnSpc>
              <a:buNone/>
            </a:pPr>
            <a:r>
              <a:rPr lang="en-US" sz="1600" b="1" dirty="0">
                <a:solidFill>
                  <a:srgbClr val="F7F6FC"/>
                </a:solidFill>
                <a:latin typeface="Barlow" pitchFamily="34" charset="0"/>
                <a:ea typeface="Barlow" pitchFamily="34" charset="-122"/>
                <a:cs typeface="Barlow" pitchFamily="34" charset="-120"/>
              </a:rPr>
              <a:t>4</a:t>
            </a:r>
            <a:endParaRPr lang="en-US" sz="1600" dirty="0"/>
          </a:p>
        </p:txBody>
      </p:sp>
      <p:sp>
        <p:nvSpPr>
          <p:cNvPr id="24" name="Text 19"/>
          <p:cNvSpPr/>
          <p:nvPr/>
        </p:nvSpPr>
        <p:spPr>
          <a:xfrm>
            <a:off x="6426200" y="2616200"/>
            <a:ext cx="1219200"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6439FF"/>
                </a:solidFill>
                <a:latin typeface="IBM Plex Mono" pitchFamily="49" charset="0"/>
                <a:ea typeface="IBM Plex Mono" pitchFamily="49" charset="-122"/>
                <a:cs typeface="IBM Plex Mono" pitchFamily="49" charset="-120"/>
              </a:rPr>
              <a:t>M5</a:t>
            </a:r>
            <a:endParaRPr lang="en-US" sz="1200" dirty="0"/>
          </a:p>
        </p:txBody>
      </p:sp>
      <p:sp>
        <p:nvSpPr>
          <p:cNvPr id="25" name="Text 20"/>
          <p:cNvSpPr/>
          <p:nvPr/>
        </p:nvSpPr>
        <p:spPr>
          <a:xfrm>
            <a:off x="6426200" y="2905761"/>
            <a:ext cx="1219200" cy="5130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6083F"/>
                </a:solidFill>
                <a:latin typeface="Barlow" pitchFamily="34" charset="0"/>
                <a:ea typeface="Barlow" pitchFamily="34" charset="-122"/>
                <a:cs typeface="Barlow" pitchFamily="34" charset="-120"/>
              </a:rPr>
              <a:t>Seguir tu inversión</a:t>
            </a:r>
            <a:endParaRPr lang="en-US" sz="1600" dirty="0"/>
          </a:p>
        </p:txBody>
      </p:sp>
      <p:sp>
        <p:nvSpPr>
          <p:cNvPr id="26" name="Text 21"/>
          <p:cNvSpPr/>
          <p:nvPr/>
        </p:nvSpPr>
        <p:spPr>
          <a:xfrm>
            <a:off x="6426200" y="3469641"/>
            <a:ext cx="1219200" cy="66548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4B78"/>
                </a:solidFill>
                <a:latin typeface="Barlow" pitchFamily="34" charset="0"/>
                <a:ea typeface="Barlow" pitchFamily="34" charset="-122"/>
                <a:cs typeface="Barlow" pitchFamily="34" charset="-120"/>
              </a:rPr>
              <a:t>Cuánto vale y cuánto ganás o perdés.</a:t>
            </a:r>
            <a:endParaRPr lang="en-US" sz="1200" dirty="0"/>
          </a:p>
        </p:txBody>
      </p:sp>
      <p:pic>
        <p:nvPicPr>
          <p:cNvPr id="27" name="Image 3" descr="arrow-right"/>
          <p:cNvPicPr>
            <a:picLocks noChangeAspect="1"/>
          </p:cNvPicPr>
          <p:nvPr/>
        </p:nvPicPr>
        <p:blipFill>
          <a:blip r:embed="rId3"/>
          <a:srcRect/>
          <a:stretch/>
        </p:blipFill>
        <p:spPr>
          <a:xfrm>
            <a:off x="7797800" y="2286000"/>
            <a:ext cx="254000" cy="152400"/>
          </a:xfrm>
          <a:prstGeom prst="rect">
            <a:avLst/>
          </a:prstGeom>
        </p:spPr>
      </p:pic>
      <p:sp>
        <p:nvSpPr>
          <p:cNvPr id="28" name="Shape 22"/>
          <p:cNvSpPr/>
          <p:nvPr/>
        </p:nvSpPr>
        <p:spPr>
          <a:xfrm>
            <a:off x="8128000" y="2032000"/>
            <a:ext cx="1422400" cy="2540000"/>
          </a:xfrm>
          <a:prstGeom prst="roundRect">
            <a:avLst>
              <a:gd name="adj" fmla="val 7143"/>
            </a:avLst>
          </a:prstGeom>
          <a:solidFill>
            <a:srgbClr val="EEEDF8"/>
          </a:solidFill>
          <a:ln/>
        </p:spPr>
        <p:txBody>
          <a:bodyPr/>
          <a:lstStyle/>
          <a:p>
            <a:endParaRPr lang="es-AR"/>
          </a:p>
        </p:txBody>
      </p:sp>
      <p:sp>
        <p:nvSpPr>
          <p:cNvPr id="29" name="Text 23"/>
          <p:cNvSpPr/>
          <p:nvPr/>
        </p:nvSpPr>
        <p:spPr>
          <a:xfrm>
            <a:off x="8255000" y="2184400"/>
            <a:ext cx="355600" cy="355600"/>
          </a:xfrm>
          <a:custGeom>
            <a:avLst/>
            <a:gdLst/>
            <a:ahLst/>
            <a:cxnLst/>
            <a:rect l="l" t="t" r="r" b="b"/>
            <a:pathLst>
              <a:path w="355600" h="355600">
                <a:moveTo>
                  <a:pt x="177800" y="0"/>
                </a:moveTo>
                <a:lnTo>
                  <a:pt x="177800" y="0"/>
                </a:lnTo>
                <a:arcTo wR="177800" hR="177800" stAng="16200000" swAng="5400000"/>
                <a:lnTo>
                  <a:pt x="355600" y="177800"/>
                </a:lnTo>
                <a:arcTo wR="177800" hR="177800" stAng="0" swAng="5400000"/>
                <a:lnTo>
                  <a:pt x="177800" y="355600"/>
                </a:lnTo>
                <a:arcTo wR="177800" hR="177800" stAng="5400000" swAng="5400000"/>
                <a:lnTo>
                  <a:pt x="0" y="177800"/>
                </a:lnTo>
                <a:arcTo wR="177800" hR="177800" stAng="10800000" swAng="5400000"/>
                <a:close/>
              </a:path>
            </a:pathLst>
          </a:custGeom>
          <a:solidFill>
            <a:srgbClr val="6439FF"/>
          </a:solidFill>
          <a:ln/>
        </p:spPr>
        <p:txBody>
          <a:bodyPr wrap="square" lIns="0" tIns="0" rIns="0" bIns="0" rtlCol="0" anchor="t">
            <a:normAutofit/>
          </a:bodyPr>
          <a:lstStyle/>
          <a:p>
            <a:pPr marL="0" indent="0" algn="ctr">
              <a:lnSpc>
                <a:spcPts val="2800"/>
              </a:lnSpc>
              <a:buNone/>
            </a:pPr>
            <a:r>
              <a:rPr lang="en-US" sz="1600" b="1" dirty="0">
                <a:solidFill>
                  <a:srgbClr val="F7F6FC"/>
                </a:solidFill>
                <a:latin typeface="Barlow" pitchFamily="34" charset="0"/>
                <a:ea typeface="Barlow" pitchFamily="34" charset="-122"/>
                <a:cs typeface="Barlow" pitchFamily="34" charset="-120"/>
              </a:rPr>
              <a:t>5</a:t>
            </a:r>
            <a:endParaRPr lang="en-US" sz="1600" dirty="0"/>
          </a:p>
        </p:txBody>
      </p:sp>
      <p:sp>
        <p:nvSpPr>
          <p:cNvPr id="30" name="Text 24"/>
          <p:cNvSpPr/>
          <p:nvPr/>
        </p:nvSpPr>
        <p:spPr>
          <a:xfrm>
            <a:off x="8255000" y="2616200"/>
            <a:ext cx="1219200"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6439FF"/>
                </a:solidFill>
                <a:latin typeface="IBM Plex Mono" pitchFamily="49" charset="0"/>
                <a:ea typeface="IBM Plex Mono" pitchFamily="49" charset="-122"/>
                <a:cs typeface="IBM Plex Mono" pitchFamily="49" charset="-120"/>
              </a:rPr>
              <a:t>M6</a:t>
            </a:r>
            <a:endParaRPr lang="en-US" sz="1200" dirty="0"/>
          </a:p>
        </p:txBody>
      </p:sp>
      <p:sp>
        <p:nvSpPr>
          <p:cNvPr id="31" name="Text 25"/>
          <p:cNvSpPr/>
          <p:nvPr/>
        </p:nvSpPr>
        <p:spPr>
          <a:xfrm>
            <a:off x="8255000" y="2905761"/>
            <a:ext cx="1219200"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6083F"/>
                </a:solidFill>
                <a:latin typeface="Barlow" pitchFamily="34" charset="0"/>
                <a:ea typeface="Barlow" pitchFamily="34" charset="-122"/>
                <a:cs typeface="Barlow" pitchFamily="34" charset="-120"/>
              </a:rPr>
              <a:t>Vender</a:t>
            </a:r>
            <a:endParaRPr lang="en-US" sz="1600" dirty="0"/>
          </a:p>
        </p:txBody>
      </p:sp>
      <p:sp>
        <p:nvSpPr>
          <p:cNvPr id="32" name="Text 26"/>
          <p:cNvSpPr/>
          <p:nvPr/>
        </p:nvSpPr>
        <p:spPr>
          <a:xfrm>
            <a:off x="8255000" y="3225800"/>
            <a:ext cx="1219200" cy="66548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4B78"/>
                </a:solidFill>
                <a:latin typeface="Barlow" pitchFamily="34" charset="0"/>
                <a:ea typeface="Barlow" pitchFamily="34" charset="-122"/>
                <a:cs typeface="Barlow" pitchFamily="34" charset="-120"/>
              </a:rPr>
              <a:t>Y esperar un día hábil a que se liquide.</a:t>
            </a:r>
            <a:endParaRPr lang="en-US" sz="1200" dirty="0"/>
          </a:p>
        </p:txBody>
      </p:sp>
      <p:pic>
        <p:nvPicPr>
          <p:cNvPr id="33" name="Image 4" descr="arrow-right"/>
          <p:cNvPicPr>
            <a:picLocks noChangeAspect="1"/>
          </p:cNvPicPr>
          <p:nvPr/>
        </p:nvPicPr>
        <p:blipFill>
          <a:blip r:embed="rId3"/>
          <a:srcRect/>
          <a:stretch/>
        </p:blipFill>
        <p:spPr>
          <a:xfrm>
            <a:off x="9626600" y="2286000"/>
            <a:ext cx="254000" cy="152400"/>
          </a:xfrm>
          <a:prstGeom prst="rect">
            <a:avLst/>
          </a:prstGeom>
        </p:spPr>
      </p:pic>
      <p:sp>
        <p:nvSpPr>
          <p:cNvPr id="34" name="Shape 27"/>
          <p:cNvSpPr/>
          <p:nvPr/>
        </p:nvSpPr>
        <p:spPr>
          <a:xfrm>
            <a:off x="9956800" y="2032000"/>
            <a:ext cx="1422400" cy="2540000"/>
          </a:xfrm>
          <a:prstGeom prst="roundRect">
            <a:avLst>
              <a:gd name="adj" fmla="val 7143"/>
            </a:avLst>
          </a:prstGeom>
          <a:solidFill>
            <a:srgbClr val="EEEDF8"/>
          </a:solidFill>
          <a:ln/>
        </p:spPr>
        <p:txBody>
          <a:bodyPr/>
          <a:lstStyle/>
          <a:p>
            <a:endParaRPr lang="es-AR"/>
          </a:p>
        </p:txBody>
      </p:sp>
      <p:sp>
        <p:nvSpPr>
          <p:cNvPr id="35" name="Text 28"/>
          <p:cNvSpPr/>
          <p:nvPr/>
        </p:nvSpPr>
        <p:spPr>
          <a:xfrm>
            <a:off x="10083800" y="2184400"/>
            <a:ext cx="355600" cy="355600"/>
          </a:xfrm>
          <a:custGeom>
            <a:avLst/>
            <a:gdLst/>
            <a:ahLst/>
            <a:cxnLst/>
            <a:rect l="l" t="t" r="r" b="b"/>
            <a:pathLst>
              <a:path w="355600" h="355600">
                <a:moveTo>
                  <a:pt x="177800" y="0"/>
                </a:moveTo>
                <a:lnTo>
                  <a:pt x="177800" y="0"/>
                </a:lnTo>
                <a:arcTo wR="177800" hR="177800" stAng="16200000" swAng="5400000"/>
                <a:lnTo>
                  <a:pt x="355600" y="177800"/>
                </a:lnTo>
                <a:arcTo wR="177800" hR="177800" stAng="0" swAng="5400000"/>
                <a:lnTo>
                  <a:pt x="177800" y="355600"/>
                </a:lnTo>
                <a:arcTo wR="177800" hR="177800" stAng="5400000" swAng="5400000"/>
                <a:lnTo>
                  <a:pt x="0" y="177800"/>
                </a:lnTo>
                <a:arcTo wR="177800" hR="177800" stAng="10800000" swAng="5400000"/>
                <a:close/>
              </a:path>
            </a:pathLst>
          </a:custGeom>
          <a:solidFill>
            <a:srgbClr val="E8B23A"/>
          </a:solidFill>
          <a:ln/>
        </p:spPr>
        <p:txBody>
          <a:bodyPr wrap="square" lIns="0" tIns="0" rIns="0" bIns="0" rtlCol="0" anchor="t">
            <a:normAutofit/>
          </a:bodyPr>
          <a:lstStyle/>
          <a:p>
            <a:pPr marL="0" indent="0" algn="ctr">
              <a:lnSpc>
                <a:spcPts val="2800"/>
              </a:lnSpc>
              <a:buNone/>
            </a:pPr>
            <a:r>
              <a:rPr lang="en-US" sz="1600" b="1" dirty="0">
                <a:solidFill>
                  <a:srgbClr val="20160A"/>
                </a:solidFill>
                <a:latin typeface="Barlow" pitchFamily="34" charset="0"/>
                <a:ea typeface="Barlow" pitchFamily="34" charset="-122"/>
                <a:cs typeface="Barlow" pitchFamily="34" charset="-120"/>
              </a:rPr>
              <a:t>6</a:t>
            </a:r>
            <a:endParaRPr lang="en-US" sz="1600" dirty="0"/>
          </a:p>
        </p:txBody>
      </p:sp>
      <p:sp>
        <p:nvSpPr>
          <p:cNvPr id="36" name="Text 29"/>
          <p:cNvSpPr/>
          <p:nvPr/>
        </p:nvSpPr>
        <p:spPr>
          <a:xfrm>
            <a:off x="10083800" y="2616200"/>
            <a:ext cx="1219200"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6439FF"/>
                </a:solidFill>
                <a:latin typeface="IBM Plex Mono" pitchFamily="49" charset="0"/>
                <a:ea typeface="IBM Plex Mono" pitchFamily="49" charset="-122"/>
                <a:cs typeface="IBM Plex Mono" pitchFamily="49" charset="-120"/>
              </a:rPr>
              <a:t>M7</a:t>
            </a:r>
            <a:endParaRPr lang="en-US" sz="1200" dirty="0"/>
          </a:p>
        </p:txBody>
      </p:sp>
      <p:sp>
        <p:nvSpPr>
          <p:cNvPr id="37" name="Text 30"/>
          <p:cNvSpPr/>
          <p:nvPr/>
        </p:nvSpPr>
        <p:spPr>
          <a:xfrm>
            <a:off x="10083800" y="2905761"/>
            <a:ext cx="1219200" cy="5130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6083F"/>
                </a:solidFill>
                <a:latin typeface="Barlow" pitchFamily="34" charset="0"/>
                <a:ea typeface="Barlow" pitchFamily="34" charset="-122"/>
                <a:cs typeface="Barlow" pitchFamily="34" charset="-120"/>
              </a:rPr>
              <a:t>Retirar dinero</a:t>
            </a:r>
            <a:endParaRPr lang="en-US" sz="1600" dirty="0"/>
          </a:p>
        </p:txBody>
      </p:sp>
      <p:sp>
        <p:nvSpPr>
          <p:cNvPr id="38" name="Text 31"/>
          <p:cNvSpPr/>
          <p:nvPr/>
        </p:nvSpPr>
        <p:spPr>
          <a:xfrm>
            <a:off x="10083800" y="3469641"/>
            <a:ext cx="1219200" cy="66548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4B78"/>
                </a:solidFill>
                <a:latin typeface="Barlow" pitchFamily="34" charset="0"/>
                <a:ea typeface="Barlow" pitchFamily="34" charset="-122"/>
                <a:cs typeface="Barlow" pitchFamily="34" charset="-120"/>
              </a:rPr>
              <a:t>De vuelta a una cuenta a tu nombre.</a:t>
            </a:r>
            <a:endParaRPr lang="en-US" sz="1200" dirty="0"/>
          </a:p>
        </p:txBody>
      </p:sp>
      <p:sp>
        <p:nvSpPr>
          <p:cNvPr id="39" name="Shape 32"/>
          <p:cNvSpPr/>
          <p:nvPr/>
        </p:nvSpPr>
        <p:spPr>
          <a:xfrm>
            <a:off x="812800" y="4775200"/>
            <a:ext cx="10566400" cy="904240"/>
          </a:xfrm>
          <a:prstGeom prst="roundRect">
            <a:avLst>
              <a:gd name="adj" fmla="val 11236"/>
            </a:avLst>
          </a:prstGeom>
          <a:solidFill>
            <a:srgbClr val="06083F"/>
          </a:solidFill>
          <a:ln/>
        </p:spPr>
        <p:txBody>
          <a:bodyPr/>
          <a:lstStyle/>
          <a:p>
            <a:endParaRPr lang="es-AR"/>
          </a:p>
        </p:txBody>
      </p:sp>
      <p:sp>
        <p:nvSpPr>
          <p:cNvPr id="40" name="Text 33"/>
          <p:cNvSpPr/>
          <p:nvPr/>
        </p:nvSpPr>
        <p:spPr>
          <a:xfrm>
            <a:off x="1066800" y="4953000"/>
            <a:ext cx="10360152" cy="30988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F7F6FC"/>
                </a:solidFill>
                <a:latin typeface="Barlow" pitchFamily="34" charset="0"/>
                <a:ea typeface="Barlow" pitchFamily="34" charset="-122"/>
                <a:cs typeface="Barlow" pitchFamily="34" charset="-120"/>
              </a:rPr>
              <a:t>El ciclo termina donde empezó: con la plata disponible en tu cuenta.</a:t>
            </a:r>
            <a:endParaRPr lang="en-US" sz="1600" dirty="0"/>
          </a:p>
        </p:txBody>
      </p:sp>
      <p:sp>
        <p:nvSpPr>
          <p:cNvPr id="41" name="Text 34"/>
          <p:cNvSpPr/>
          <p:nvPr/>
        </p:nvSpPr>
        <p:spPr>
          <a:xfrm>
            <a:off x="1066800" y="5288280"/>
            <a:ext cx="1036015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9B4E0"/>
                </a:solidFill>
                <a:latin typeface="Barlow" pitchFamily="34" charset="0"/>
                <a:ea typeface="Barlow" pitchFamily="34" charset="-122"/>
                <a:cs typeface="Barlow" pitchFamily="34" charset="-120"/>
              </a:rPr>
              <a:t>Y en «Movimientos» queda anotado cada paso, como una bitácora.</a:t>
            </a:r>
            <a:endParaRPr lang="en-US" sz="1200" dirty="0"/>
          </a:p>
        </p:txBody>
      </p:sp>
      <p:sp>
        <p:nvSpPr>
          <p:cNvPr id="42" name="Text 35"/>
          <p:cNvSpPr/>
          <p:nvPr/>
        </p:nvSpPr>
        <p:spPr>
          <a:xfrm>
            <a:off x="812800" y="6238239"/>
            <a:ext cx="78486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5C8C"/>
                </a:solidFill>
                <a:latin typeface="IBM Plex Mono" pitchFamily="49" charset="0"/>
                <a:ea typeface="IBM Plex Mono" pitchFamily="49" charset="-122"/>
                <a:cs typeface="IBM Plex Mono" pitchFamily="49" charset="-120"/>
              </a:rPr>
              <a:t>Antes de empezar · Capacitación IOL</a:t>
            </a:r>
            <a:endParaRPr lang="en-US" sz="1200" dirty="0"/>
          </a:p>
        </p:txBody>
      </p:sp>
      <p:sp>
        <p:nvSpPr>
          <p:cNvPr id="43" name="Text 36"/>
          <p:cNvSpPr/>
          <p:nvPr/>
        </p:nvSpPr>
        <p:spPr>
          <a:xfrm>
            <a:off x="9804400" y="6238239"/>
            <a:ext cx="1574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5C8C"/>
                </a:solidFill>
                <a:latin typeface="IBM Plex Mono" pitchFamily="49" charset="0"/>
                <a:ea typeface="IBM Plex Mono" pitchFamily="49" charset="-122"/>
                <a:cs typeface="IBM Plex Mono" pitchFamily="49" charset="-120"/>
              </a:rPr>
              <a:t>05 / 12</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EED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6439FF"/>
                </a:solidFill>
                <a:latin typeface="IBM Plex Mono" pitchFamily="49" charset="0"/>
                <a:ea typeface="IBM Plex Mono" pitchFamily="49" charset="-122"/>
                <a:cs typeface="IBM Plex Mono" pitchFamily="49" charset="-120"/>
              </a:rPr>
              <a:t>02 · QUÉ VAS A APRENDER</a:t>
            </a:r>
            <a:endParaRPr lang="en-US" sz="1200" dirty="0"/>
          </a:p>
        </p:txBody>
      </p:sp>
      <p:sp>
        <p:nvSpPr>
          <p:cNvPr id="3" name="Text 1"/>
          <p:cNvSpPr>
            <a:spLocks noGrp="1"/>
          </p:cNvSpPr>
          <p:nvPr>
            <p:ph type="title"/>
          </p:nvPr>
        </p:nvSpPr>
        <p:spPr>
          <a:xfrm>
            <a:off x="812800" y="1102361"/>
            <a:ext cx="10883392" cy="551180"/>
          </a:xfrm>
          <a:prstGeom prst="rect">
            <a:avLst/>
          </a:prstGeom>
          <a:noFill/>
          <a:ln/>
        </p:spPr>
        <p:txBody>
          <a:bodyPr wrap="square" lIns="0" tIns="0" rIns="0" bIns="0" rtlCol="0" anchor="t">
            <a:normAutofit/>
          </a:bodyPr>
          <a:lstStyle/>
          <a:p>
            <a:pPr marL="0" indent="0" algn="l">
              <a:lnSpc>
                <a:spcPts val="4140"/>
              </a:lnSpc>
              <a:buNone/>
            </a:pPr>
            <a:r>
              <a:rPr lang="en-US" sz="3600" b="1" i="0" kern="0" spc="-50" dirty="0">
                <a:solidFill>
                  <a:srgbClr val="06083F"/>
                </a:solidFill>
                <a:latin typeface="Barlow" pitchFamily="34" charset="0"/>
                <a:ea typeface="Barlow" pitchFamily="34" charset="-122"/>
                <a:cs typeface="Barlow" pitchFamily="34" charset="-120"/>
              </a:rPr>
              <a:t>Lo que queda afuera</a:t>
            </a:r>
            <a:endParaRPr lang="en-US" sz="3600" dirty="0"/>
          </a:p>
        </p:txBody>
      </p:sp>
      <p:sp>
        <p:nvSpPr>
          <p:cNvPr id="4" name="Text 2"/>
          <p:cNvSpPr/>
          <p:nvPr/>
        </p:nvSpPr>
        <p:spPr>
          <a:xfrm>
            <a:off x="812800" y="1882139"/>
            <a:ext cx="8675319" cy="5943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A4B78"/>
                </a:solidFill>
                <a:latin typeface="Barlow" pitchFamily="34" charset="0"/>
                <a:ea typeface="Barlow" pitchFamily="34" charset="-122"/>
                <a:cs typeface="Barlow" pitchFamily="34" charset="-120"/>
              </a:rPr>
              <a:t>En el simulador vas a ver estos botones con esta marca. Si les hacés clic, te explica qué son y por qué no entran.</a:t>
            </a:r>
            <a:endParaRPr lang="en-US" sz="1600" dirty="0"/>
          </a:p>
        </p:txBody>
      </p:sp>
      <p:sp>
        <p:nvSpPr>
          <p:cNvPr id="5" name="Text 3"/>
          <p:cNvSpPr/>
          <p:nvPr/>
        </p:nvSpPr>
        <p:spPr>
          <a:xfrm>
            <a:off x="9444990" y="1992632"/>
            <a:ext cx="1927860" cy="347980"/>
          </a:xfrm>
          <a:prstGeom prst="roundRect">
            <a:avLst>
              <a:gd name="adj" fmla="val 12774"/>
            </a:avLst>
          </a:prstGeom>
          <a:noFill/>
          <a:ln w="12700">
            <a:solidFill>
              <a:srgbClr val="8C8DA8"/>
            </a:solidFill>
            <a:prstDash val="dash"/>
          </a:ln>
        </p:spPr>
        <p:txBody>
          <a:bodyPr wrap="none" lIns="0" tIns="0" rIns="0" bIns="0" rtlCol="0" anchor="ctr">
            <a:normAutofit/>
          </a:bodyPr>
          <a:lstStyle/>
          <a:p>
            <a:pPr marL="0" indent="0" algn="ctr">
              <a:lnSpc>
                <a:spcPts val="1680"/>
              </a:lnSpc>
              <a:buNone/>
            </a:pPr>
            <a:r>
              <a:rPr lang="en-US" sz="1200" b="1" kern="0" spc="100" dirty="0">
                <a:solidFill>
                  <a:srgbClr val="5B5C8C"/>
                </a:solidFill>
                <a:latin typeface="IBM Plex Mono" pitchFamily="49" charset="0"/>
                <a:ea typeface="IBM Plex Mono" pitchFamily="49" charset="-122"/>
                <a:cs typeface="IBM Plex Mono" pitchFamily="49" charset="-120"/>
              </a:rPr>
              <a:t>FUERA DE ALCANCE</a:t>
            </a:r>
            <a:endParaRPr lang="en-US" sz="1200" dirty="0"/>
          </a:p>
        </p:txBody>
      </p:sp>
      <p:sp>
        <p:nvSpPr>
          <p:cNvPr id="6" name="Shape 4"/>
          <p:cNvSpPr/>
          <p:nvPr/>
        </p:nvSpPr>
        <p:spPr>
          <a:xfrm>
            <a:off x="819150" y="2711450"/>
            <a:ext cx="2514600" cy="1064260"/>
          </a:xfrm>
          <a:prstGeom prst="roundRect">
            <a:avLst>
              <a:gd name="adj" fmla="val 6563"/>
            </a:avLst>
          </a:prstGeom>
          <a:solidFill>
            <a:srgbClr val="F7F6FC"/>
          </a:solidFill>
          <a:ln w="12700">
            <a:solidFill>
              <a:srgbClr val="C7C2DD"/>
            </a:solidFill>
            <a:prstDash val="dash"/>
          </a:ln>
        </p:spPr>
        <p:txBody>
          <a:bodyPr/>
          <a:lstStyle/>
          <a:p>
            <a:endParaRPr lang="es-AR"/>
          </a:p>
        </p:txBody>
      </p:sp>
      <p:sp>
        <p:nvSpPr>
          <p:cNvPr id="7" name="Text 5"/>
          <p:cNvSpPr/>
          <p:nvPr/>
        </p:nvSpPr>
        <p:spPr>
          <a:xfrm>
            <a:off x="1000760" y="2867661"/>
            <a:ext cx="2215922"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6083F"/>
                </a:solidFill>
                <a:latin typeface="Barlow" pitchFamily="34" charset="0"/>
                <a:ea typeface="Barlow" pitchFamily="34" charset="-122"/>
                <a:cs typeface="Barlow" pitchFamily="34" charset="-120"/>
              </a:rPr>
              <a:t>Abrir la cuenta</a:t>
            </a:r>
            <a:endParaRPr lang="en-US" sz="1600" dirty="0"/>
          </a:p>
        </p:txBody>
      </p:sp>
      <p:sp>
        <p:nvSpPr>
          <p:cNvPr id="8" name="Text 6"/>
          <p:cNvSpPr/>
          <p:nvPr/>
        </p:nvSpPr>
        <p:spPr>
          <a:xfrm>
            <a:off x="1000760" y="3162300"/>
            <a:ext cx="2215922"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5C8C"/>
                </a:solidFill>
                <a:latin typeface="Barlow" pitchFamily="34" charset="0"/>
                <a:ea typeface="Barlow" pitchFamily="34" charset="-122"/>
                <a:cs typeface="Barlow" pitchFamily="34" charset="-120"/>
              </a:rPr>
              <a:t>Arrancás con la cuenta ya abierta.</a:t>
            </a:r>
            <a:endParaRPr lang="en-US" sz="1200" dirty="0"/>
          </a:p>
        </p:txBody>
      </p:sp>
      <p:sp>
        <p:nvSpPr>
          <p:cNvPr id="9" name="Shape 7"/>
          <p:cNvSpPr/>
          <p:nvPr/>
        </p:nvSpPr>
        <p:spPr>
          <a:xfrm>
            <a:off x="3498850" y="2711450"/>
            <a:ext cx="2514600" cy="1064260"/>
          </a:xfrm>
          <a:prstGeom prst="roundRect">
            <a:avLst>
              <a:gd name="adj" fmla="val 6563"/>
            </a:avLst>
          </a:prstGeom>
          <a:solidFill>
            <a:srgbClr val="F7F6FC"/>
          </a:solidFill>
          <a:ln w="12700">
            <a:solidFill>
              <a:srgbClr val="C7C2DD"/>
            </a:solidFill>
            <a:prstDash val="dash"/>
          </a:ln>
        </p:spPr>
        <p:txBody>
          <a:bodyPr/>
          <a:lstStyle/>
          <a:p>
            <a:endParaRPr lang="es-AR"/>
          </a:p>
        </p:txBody>
      </p:sp>
      <p:sp>
        <p:nvSpPr>
          <p:cNvPr id="10" name="Text 8"/>
          <p:cNvSpPr/>
          <p:nvPr/>
        </p:nvSpPr>
        <p:spPr>
          <a:xfrm>
            <a:off x="3680460" y="2867661"/>
            <a:ext cx="2215922"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6083F"/>
                </a:solidFill>
                <a:latin typeface="Barlow" pitchFamily="34" charset="0"/>
                <a:ea typeface="Barlow" pitchFamily="34" charset="-122"/>
                <a:cs typeface="Barlow" pitchFamily="34" charset="-120"/>
              </a:rPr>
              <a:t>Reportes e impuestos</a:t>
            </a:r>
            <a:endParaRPr lang="en-US" sz="1600" dirty="0"/>
          </a:p>
        </p:txBody>
      </p:sp>
      <p:sp>
        <p:nvSpPr>
          <p:cNvPr id="11" name="Text 9"/>
          <p:cNvSpPr/>
          <p:nvPr/>
        </p:nvSpPr>
        <p:spPr>
          <a:xfrm>
            <a:off x="3680460" y="3162300"/>
            <a:ext cx="221592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5C8C"/>
                </a:solidFill>
                <a:latin typeface="Barlow" pitchFamily="34" charset="0"/>
                <a:ea typeface="Barlow" pitchFamily="34" charset="-122"/>
                <a:cs typeface="Barlow" pitchFamily="34" charset="-120"/>
              </a:rPr>
              <a:t>Se leen después del ciclo.</a:t>
            </a:r>
            <a:endParaRPr lang="en-US" sz="1200" dirty="0"/>
          </a:p>
        </p:txBody>
      </p:sp>
      <p:sp>
        <p:nvSpPr>
          <p:cNvPr id="12" name="Shape 10"/>
          <p:cNvSpPr/>
          <p:nvPr/>
        </p:nvSpPr>
        <p:spPr>
          <a:xfrm>
            <a:off x="6178550" y="2711450"/>
            <a:ext cx="2514600" cy="1064260"/>
          </a:xfrm>
          <a:prstGeom prst="roundRect">
            <a:avLst>
              <a:gd name="adj" fmla="val 6563"/>
            </a:avLst>
          </a:prstGeom>
          <a:solidFill>
            <a:srgbClr val="F7F6FC"/>
          </a:solidFill>
          <a:ln w="12700">
            <a:solidFill>
              <a:srgbClr val="C7C2DD"/>
            </a:solidFill>
            <a:prstDash val="dash"/>
          </a:ln>
        </p:spPr>
        <p:txBody>
          <a:bodyPr/>
          <a:lstStyle/>
          <a:p>
            <a:endParaRPr lang="es-AR"/>
          </a:p>
        </p:txBody>
      </p:sp>
      <p:sp>
        <p:nvSpPr>
          <p:cNvPr id="13" name="Text 11"/>
          <p:cNvSpPr/>
          <p:nvPr/>
        </p:nvSpPr>
        <p:spPr>
          <a:xfrm>
            <a:off x="6360160" y="2867661"/>
            <a:ext cx="2215922" cy="5130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6083F"/>
                </a:solidFill>
                <a:latin typeface="Barlow" pitchFamily="34" charset="0"/>
                <a:ea typeface="Barlow" pitchFamily="34" charset="-122"/>
                <a:cs typeface="Barlow" pitchFamily="34" charset="-120"/>
              </a:rPr>
              <a:t>Cuenta de Estados Unidos</a:t>
            </a:r>
            <a:endParaRPr lang="en-US" sz="1600" dirty="0"/>
          </a:p>
        </p:txBody>
      </p:sp>
      <p:sp>
        <p:nvSpPr>
          <p:cNvPr id="14" name="Text 12"/>
          <p:cNvSpPr/>
          <p:nvPr/>
        </p:nvSpPr>
        <p:spPr>
          <a:xfrm>
            <a:off x="6360160" y="3406139"/>
            <a:ext cx="221592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5C8C"/>
                </a:solidFill>
                <a:latin typeface="Barlow" pitchFamily="34" charset="0"/>
                <a:ea typeface="Barlow" pitchFamily="34" charset="-122"/>
                <a:cs typeface="Barlow" pitchFamily="34" charset="-120"/>
              </a:rPr>
              <a:t>Acá lo cubren los CEDEARs.</a:t>
            </a:r>
            <a:endParaRPr lang="en-US" sz="1200" dirty="0"/>
          </a:p>
        </p:txBody>
      </p:sp>
      <p:sp>
        <p:nvSpPr>
          <p:cNvPr id="15" name="Shape 13"/>
          <p:cNvSpPr/>
          <p:nvPr/>
        </p:nvSpPr>
        <p:spPr>
          <a:xfrm>
            <a:off x="8858250" y="2711450"/>
            <a:ext cx="2514600" cy="1064260"/>
          </a:xfrm>
          <a:prstGeom prst="roundRect">
            <a:avLst>
              <a:gd name="adj" fmla="val 6563"/>
            </a:avLst>
          </a:prstGeom>
          <a:solidFill>
            <a:srgbClr val="F7F6FC"/>
          </a:solidFill>
          <a:ln w="12700">
            <a:solidFill>
              <a:srgbClr val="C7C2DD"/>
            </a:solidFill>
            <a:prstDash val="dash"/>
          </a:ln>
        </p:spPr>
        <p:txBody>
          <a:bodyPr/>
          <a:lstStyle/>
          <a:p>
            <a:endParaRPr lang="es-AR"/>
          </a:p>
        </p:txBody>
      </p:sp>
      <p:sp>
        <p:nvSpPr>
          <p:cNvPr id="16" name="Text 14"/>
          <p:cNvSpPr/>
          <p:nvPr/>
        </p:nvSpPr>
        <p:spPr>
          <a:xfrm>
            <a:off x="9039860" y="2867661"/>
            <a:ext cx="2215922"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6083F"/>
                </a:solidFill>
                <a:latin typeface="Barlow" pitchFamily="34" charset="0"/>
                <a:ea typeface="Barlow" pitchFamily="34" charset="-122"/>
                <a:cs typeface="Barlow" pitchFamily="34" charset="-120"/>
              </a:rPr>
              <a:t>Cauciones y opciones</a:t>
            </a:r>
            <a:endParaRPr lang="en-US" sz="1600" dirty="0"/>
          </a:p>
        </p:txBody>
      </p:sp>
      <p:sp>
        <p:nvSpPr>
          <p:cNvPr id="17" name="Text 15"/>
          <p:cNvSpPr/>
          <p:nvPr/>
        </p:nvSpPr>
        <p:spPr>
          <a:xfrm>
            <a:off x="9039860" y="3162300"/>
            <a:ext cx="221592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5C8C"/>
                </a:solidFill>
                <a:latin typeface="Barlow" pitchFamily="34" charset="0"/>
                <a:ea typeface="Barlow" pitchFamily="34" charset="-122"/>
                <a:cs typeface="Barlow" pitchFamily="34" charset="-120"/>
              </a:rPr>
              <a:t>Son instrumentos avanzados.</a:t>
            </a:r>
            <a:endParaRPr lang="en-US" sz="1200" dirty="0"/>
          </a:p>
        </p:txBody>
      </p:sp>
      <p:sp>
        <p:nvSpPr>
          <p:cNvPr id="18" name="Shape 16"/>
          <p:cNvSpPr/>
          <p:nvPr/>
        </p:nvSpPr>
        <p:spPr>
          <a:xfrm>
            <a:off x="819150" y="3940811"/>
            <a:ext cx="2514600" cy="1277620"/>
          </a:xfrm>
          <a:prstGeom prst="roundRect">
            <a:avLst>
              <a:gd name="adj" fmla="val 5467"/>
            </a:avLst>
          </a:prstGeom>
          <a:solidFill>
            <a:srgbClr val="F7F6FC"/>
          </a:solidFill>
          <a:ln w="12700">
            <a:solidFill>
              <a:srgbClr val="C7C2DD"/>
            </a:solidFill>
            <a:prstDash val="dash"/>
          </a:ln>
        </p:spPr>
        <p:txBody>
          <a:bodyPr/>
          <a:lstStyle/>
          <a:p>
            <a:endParaRPr lang="es-AR"/>
          </a:p>
        </p:txBody>
      </p:sp>
      <p:sp>
        <p:nvSpPr>
          <p:cNvPr id="19" name="Text 17"/>
          <p:cNvSpPr/>
          <p:nvPr/>
        </p:nvSpPr>
        <p:spPr>
          <a:xfrm>
            <a:off x="1000760" y="4097021"/>
            <a:ext cx="2215922" cy="5130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6083F"/>
                </a:solidFill>
                <a:latin typeface="Barlow" pitchFamily="34" charset="0"/>
                <a:ea typeface="Barlow" pitchFamily="34" charset="-122"/>
                <a:cs typeface="Barlow" pitchFamily="34" charset="-120"/>
              </a:rPr>
              <a:t>Fondos, letras y bonos directos</a:t>
            </a:r>
            <a:endParaRPr lang="en-US" sz="1600" dirty="0"/>
          </a:p>
        </p:txBody>
      </p:sp>
      <p:sp>
        <p:nvSpPr>
          <p:cNvPr id="20" name="Text 18"/>
          <p:cNvSpPr/>
          <p:nvPr/>
        </p:nvSpPr>
        <p:spPr>
          <a:xfrm>
            <a:off x="1000760" y="4635500"/>
            <a:ext cx="2215922"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5C8C"/>
                </a:solidFill>
                <a:latin typeface="Barlow" pitchFamily="34" charset="0"/>
                <a:ea typeface="Barlow" pitchFamily="34" charset="-122"/>
                <a:cs typeface="Barlow" pitchFamily="34" charset="-120"/>
              </a:rPr>
              <a:t>Quedan fuera del ciclo que cubrimos.</a:t>
            </a:r>
            <a:endParaRPr lang="en-US" sz="1200" dirty="0"/>
          </a:p>
        </p:txBody>
      </p:sp>
      <p:sp>
        <p:nvSpPr>
          <p:cNvPr id="21" name="Shape 19"/>
          <p:cNvSpPr/>
          <p:nvPr/>
        </p:nvSpPr>
        <p:spPr>
          <a:xfrm>
            <a:off x="3498850" y="3940811"/>
            <a:ext cx="2514600" cy="1277620"/>
          </a:xfrm>
          <a:prstGeom prst="roundRect">
            <a:avLst>
              <a:gd name="adj" fmla="val 5467"/>
            </a:avLst>
          </a:prstGeom>
          <a:solidFill>
            <a:srgbClr val="F7F6FC"/>
          </a:solidFill>
          <a:ln w="12700">
            <a:solidFill>
              <a:srgbClr val="C7C2DD"/>
            </a:solidFill>
            <a:prstDash val="dash"/>
          </a:ln>
        </p:spPr>
        <p:txBody>
          <a:bodyPr/>
          <a:lstStyle/>
          <a:p>
            <a:endParaRPr lang="es-AR"/>
          </a:p>
        </p:txBody>
      </p:sp>
      <p:sp>
        <p:nvSpPr>
          <p:cNvPr id="22" name="Text 20"/>
          <p:cNvSpPr/>
          <p:nvPr/>
        </p:nvSpPr>
        <p:spPr>
          <a:xfrm>
            <a:off x="3680460" y="4097021"/>
            <a:ext cx="2215922"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6083F"/>
                </a:solidFill>
                <a:latin typeface="Barlow" pitchFamily="34" charset="0"/>
                <a:ea typeface="Barlow" pitchFamily="34" charset="-122"/>
                <a:cs typeface="Barlow" pitchFamily="34" charset="-120"/>
              </a:rPr>
              <a:t>Portafolio Simple</a:t>
            </a:r>
            <a:endParaRPr lang="en-US" sz="1600" dirty="0"/>
          </a:p>
        </p:txBody>
      </p:sp>
      <p:sp>
        <p:nvSpPr>
          <p:cNvPr id="23" name="Text 21"/>
          <p:cNvSpPr/>
          <p:nvPr/>
        </p:nvSpPr>
        <p:spPr>
          <a:xfrm>
            <a:off x="3680460" y="4391661"/>
            <a:ext cx="221592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5C8C"/>
                </a:solidFill>
                <a:latin typeface="Barlow" pitchFamily="34" charset="0"/>
                <a:ea typeface="Barlow" pitchFamily="34" charset="-122"/>
                <a:cs typeface="Barlow" pitchFamily="34" charset="-120"/>
              </a:rPr>
              <a:t>Acá armás tu cartera vos.</a:t>
            </a:r>
            <a:endParaRPr lang="en-US" sz="1200" dirty="0"/>
          </a:p>
        </p:txBody>
      </p:sp>
      <p:sp>
        <p:nvSpPr>
          <p:cNvPr id="24" name="Shape 22"/>
          <p:cNvSpPr/>
          <p:nvPr/>
        </p:nvSpPr>
        <p:spPr>
          <a:xfrm>
            <a:off x="6178550" y="3940811"/>
            <a:ext cx="2514600" cy="1277620"/>
          </a:xfrm>
          <a:prstGeom prst="roundRect">
            <a:avLst>
              <a:gd name="adj" fmla="val 5467"/>
            </a:avLst>
          </a:prstGeom>
          <a:solidFill>
            <a:srgbClr val="F7F6FC"/>
          </a:solidFill>
          <a:ln w="12700">
            <a:solidFill>
              <a:srgbClr val="C7C2DD"/>
            </a:solidFill>
            <a:prstDash val="dash"/>
          </a:ln>
        </p:spPr>
        <p:txBody>
          <a:bodyPr/>
          <a:lstStyle/>
          <a:p>
            <a:endParaRPr lang="es-AR"/>
          </a:p>
        </p:txBody>
      </p:sp>
      <p:sp>
        <p:nvSpPr>
          <p:cNvPr id="25" name="Text 23"/>
          <p:cNvSpPr/>
          <p:nvPr/>
        </p:nvSpPr>
        <p:spPr>
          <a:xfrm>
            <a:off x="6360160" y="4097021"/>
            <a:ext cx="2326640"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6083F"/>
                </a:solidFill>
                <a:latin typeface="Barlow" pitchFamily="34" charset="0"/>
                <a:ea typeface="Barlow" pitchFamily="34" charset="-122"/>
                <a:cs typeface="Barlow" pitchFamily="34" charset="-120"/>
              </a:rPr>
              <a:t>Estrategias y Academia</a:t>
            </a:r>
            <a:endParaRPr lang="en-US" sz="1600" dirty="0"/>
          </a:p>
        </p:txBody>
      </p:sp>
      <p:sp>
        <p:nvSpPr>
          <p:cNvPr id="26" name="Text 24"/>
          <p:cNvSpPr/>
          <p:nvPr/>
        </p:nvSpPr>
        <p:spPr>
          <a:xfrm>
            <a:off x="6360160" y="4391661"/>
            <a:ext cx="2215922"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5C8C"/>
                </a:solidFill>
                <a:latin typeface="Barlow" pitchFamily="34" charset="0"/>
                <a:ea typeface="Barlow" pitchFamily="34" charset="-122"/>
                <a:cs typeface="Barlow" pitchFamily="34" charset="-120"/>
              </a:rPr>
              <a:t>Son asesoramiento: acá enseña el simulador.</a:t>
            </a:r>
            <a:endParaRPr lang="en-US" sz="1200" dirty="0"/>
          </a:p>
        </p:txBody>
      </p:sp>
      <p:sp>
        <p:nvSpPr>
          <p:cNvPr id="27" name="Shape 25"/>
          <p:cNvSpPr/>
          <p:nvPr/>
        </p:nvSpPr>
        <p:spPr>
          <a:xfrm>
            <a:off x="8858250" y="3940811"/>
            <a:ext cx="2514600" cy="1277620"/>
          </a:xfrm>
          <a:prstGeom prst="roundRect">
            <a:avLst>
              <a:gd name="adj" fmla="val 5467"/>
            </a:avLst>
          </a:prstGeom>
          <a:solidFill>
            <a:srgbClr val="F7F6FC"/>
          </a:solidFill>
          <a:ln w="12700">
            <a:solidFill>
              <a:srgbClr val="C7C2DD"/>
            </a:solidFill>
            <a:prstDash val="dash"/>
          </a:ln>
        </p:spPr>
        <p:txBody>
          <a:bodyPr/>
          <a:lstStyle/>
          <a:p>
            <a:endParaRPr lang="es-AR"/>
          </a:p>
        </p:txBody>
      </p:sp>
      <p:sp>
        <p:nvSpPr>
          <p:cNvPr id="28" name="Text 26"/>
          <p:cNvSpPr/>
          <p:nvPr/>
        </p:nvSpPr>
        <p:spPr>
          <a:xfrm>
            <a:off x="9039860" y="4097021"/>
            <a:ext cx="2215922"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6083F"/>
                </a:solidFill>
                <a:latin typeface="Barlow" pitchFamily="34" charset="0"/>
                <a:ea typeface="Barlow" pitchFamily="34" charset="-122"/>
                <a:cs typeface="Barlow" pitchFamily="34" charset="-120"/>
              </a:rPr>
              <a:t>Alertas y configuración</a:t>
            </a:r>
            <a:endParaRPr lang="en-US" sz="1600" dirty="0"/>
          </a:p>
        </p:txBody>
      </p:sp>
      <p:sp>
        <p:nvSpPr>
          <p:cNvPr id="29" name="Text 27"/>
          <p:cNvSpPr/>
          <p:nvPr/>
        </p:nvSpPr>
        <p:spPr>
          <a:xfrm>
            <a:off x="9039860" y="4391661"/>
            <a:ext cx="221592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5C8C"/>
                </a:solidFill>
                <a:latin typeface="Barlow" pitchFamily="34" charset="0"/>
                <a:ea typeface="Barlow" pitchFamily="34" charset="-122"/>
                <a:cs typeface="Barlow" pitchFamily="34" charset="-120"/>
              </a:rPr>
              <a:t>No hacen falta para operar.</a:t>
            </a:r>
            <a:endParaRPr lang="en-US" sz="1200" dirty="0"/>
          </a:p>
        </p:txBody>
      </p:sp>
      <p:sp>
        <p:nvSpPr>
          <p:cNvPr id="30" name="Text 28"/>
          <p:cNvSpPr/>
          <p:nvPr/>
        </p:nvSpPr>
        <p:spPr>
          <a:xfrm>
            <a:off x="812800" y="6238239"/>
            <a:ext cx="78486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5C8C"/>
                </a:solidFill>
                <a:latin typeface="IBM Plex Mono" pitchFamily="49" charset="0"/>
                <a:ea typeface="IBM Plex Mono" pitchFamily="49" charset="-122"/>
                <a:cs typeface="IBM Plex Mono" pitchFamily="49" charset="-120"/>
              </a:rPr>
              <a:t>Antes de empezar · Capacitación IOL</a:t>
            </a:r>
            <a:endParaRPr lang="en-US" sz="1200" dirty="0"/>
          </a:p>
        </p:txBody>
      </p:sp>
      <p:sp>
        <p:nvSpPr>
          <p:cNvPr id="31" name="Text 29"/>
          <p:cNvSpPr/>
          <p:nvPr/>
        </p:nvSpPr>
        <p:spPr>
          <a:xfrm>
            <a:off x="9804400" y="6238239"/>
            <a:ext cx="1574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5C8C"/>
                </a:solidFill>
                <a:latin typeface="IBM Plex Mono" pitchFamily="49" charset="0"/>
                <a:ea typeface="IBM Plex Mono" pitchFamily="49" charset="-122"/>
                <a:cs typeface="IBM Plex Mono" pitchFamily="49" charset="-120"/>
              </a:rPr>
              <a:t>06 / 12</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6F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6439FF"/>
                </a:solidFill>
                <a:latin typeface="IBM Plex Mono" pitchFamily="49" charset="0"/>
                <a:ea typeface="IBM Plex Mono" pitchFamily="49" charset="-122"/>
                <a:cs typeface="IBM Plex Mono" pitchFamily="49" charset="-120"/>
              </a:rPr>
              <a:t>02 · LA IDEA MÁS IMPORTANTE</a:t>
            </a:r>
            <a:endParaRPr lang="en-US" sz="1200" dirty="0"/>
          </a:p>
        </p:txBody>
      </p:sp>
      <p:sp>
        <p:nvSpPr>
          <p:cNvPr id="3" name="Text 1"/>
          <p:cNvSpPr>
            <a:spLocks noGrp="1"/>
          </p:cNvSpPr>
          <p:nvPr>
            <p:ph type="title"/>
          </p:nvPr>
        </p:nvSpPr>
        <p:spPr>
          <a:xfrm>
            <a:off x="812800" y="1102361"/>
            <a:ext cx="10883392" cy="551180"/>
          </a:xfrm>
          <a:prstGeom prst="rect">
            <a:avLst/>
          </a:prstGeom>
          <a:noFill/>
          <a:ln/>
        </p:spPr>
        <p:txBody>
          <a:bodyPr wrap="square" lIns="0" tIns="0" rIns="0" bIns="0" rtlCol="0" anchor="t">
            <a:normAutofit/>
          </a:bodyPr>
          <a:lstStyle/>
          <a:p>
            <a:pPr marL="0" indent="0" algn="l">
              <a:lnSpc>
                <a:spcPts val="4140"/>
              </a:lnSpc>
              <a:buNone/>
            </a:pPr>
            <a:r>
              <a:rPr lang="en-US" sz="3600" b="1" i="0" kern="0" spc="-50" dirty="0">
                <a:solidFill>
                  <a:srgbClr val="06083F"/>
                </a:solidFill>
                <a:latin typeface="Barlow" pitchFamily="34" charset="0"/>
                <a:ea typeface="Barlow" pitchFamily="34" charset="-122"/>
                <a:cs typeface="Barlow" pitchFamily="34" charset="-120"/>
              </a:rPr>
              <a:t>Tu plata puede estar en tres lugares</a:t>
            </a:r>
            <a:endParaRPr lang="en-US" sz="3600" dirty="0"/>
          </a:p>
        </p:txBody>
      </p:sp>
      <p:sp>
        <p:nvSpPr>
          <p:cNvPr id="4" name="Shape 2"/>
          <p:cNvSpPr/>
          <p:nvPr/>
        </p:nvSpPr>
        <p:spPr>
          <a:xfrm>
            <a:off x="812800" y="1882139"/>
            <a:ext cx="3420507" cy="3063240"/>
          </a:xfrm>
          <a:prstGeom prst="roundRect">
            <a:avLst>
              <a:gd name="adj" fmla="val 3317"/>
            </a:avLst>
          </a:prstGeom>
          <a:solidFill>
            <a:srgbClr val="EEEDF8"/>
          </a:solidFill>
          <a:ln/>
        </p:spPr>
        <p:txBody>
          <a:bodyPr/>
          <a:lstStyle/>
          <a:p>
            <a:endParaRPr lang="es-AR"/>
          </a:p>
        </p:txBody>
      </p:sp>
      <p:sp>
        <p:nvSpPr>
          <p:cNvPr id="5" name="Shape 3"/>
          <p:cNvSpPr/>
          <p:nvPr/>
        </p:nvSpPr>
        <p:spPr>
          <a:xfrm>
            <a:off x="812800" y="1882139"/>
            <a:ext cx="3420507" cy="3063240"/>
          </a:xfrm>
          <a:custGeom>
            <a:avLst/>
            <a:gdLst/>
            <a:ahLst/>
            <a:cxnLst/>
            <a:rect l="l" t="t" r="r" b="b"/>
            <a:pathLst>
              <a:path w="3420507" h="3063240">
                <a:moveTo>
                  <a:pt x="0" y="101600"/>
                </a:moveTo>
                <a:lnTo>
                  <a:pt x="0" y="101600"/>
                </a:lnTo>
                <a:arcTo wR="101600" hR="101600" stAng="10800000" swAng="5400000"/>
                <a:lnTo>
                  <a:pt x="3318907" y="0"/>
                </a:lnTo>
                <a:arcTo wR="101600" hR="101600" stAng="16200000" swAng="5400000"/>
                <a:lnTo>
                  <a:pt x="3420507" y="101600"/>
                </a:lnTo>
                <a:arcTo wR="101600" hR="25400" stAng="0" swAng="-5400000"/>
                <a:lnTo>
                  <a:pt x="101600" y="76200"/>
                </a:lnTo>
                <a:arcTo wR="101600" hR="25400" stAng="16200000" swAng="-5400000"/>
                <a:close/>
              </a:path>
            </a:pathLst>
          </a:custGeom>
          <a:solidFill>
            <a:srgbClr val="0A7A57"/>
          </a:solidFill>
          <a:ln/>
        </p:spPr>
        <p:txBody>
          <a:bodyPr/>
          <a:lstStyle/>
          <a:p>
            <a:endParaRPr lang="es-AR"/>
          </a:p>
        </p:txBody>
      </p:sp>
      <p:sp>
        <p:nvSpPr>
          <p:cNvPr id="6" name="Text 4"/>
          <p:cNvSpPr/>
          <p:nvPr/>
        </p:nvSpPr>
        <p:spPr>
          <a:xfrm>
            <a:off x="1066800" y="2161539"/>
            <a:ext cx="299988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0A7A57"/>
                </a:solidFill>
                <a:latin typeface="IBM Plex Mono" pitchFamily="49" charset="0"/>
                <a:ea typeface="IBM Plex Mono" pitchFamily="49" charset="-122"/>
                <a:cs typeface="IBM Plex Mono" pitchFamily="49" charset="-120"/>
              </a:rPr>
              <a:t>DISPONIBLE</a:t>
            </a:r>
            <a:endParaRPr lang="en-US" sz="1200" dirty="0"/>
          </a:p>
        </p:txBody>
      </p:sp>
      <p:sp>
        <p:nvSpPr>
          <p:cNvPr id="7" name="Text 5"/>
          <p:cNvSpPr/>
          <p:nvPr/>
        </p:nvSpPr>
        <p:spPr>
          <a:xfrm>
            <a:off x="1066800" y="2451100"/>
            <a:ext cx="2999882" cy="36068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06083F"/>
                </a:solidFill>
                <a:latin typeface="Barlow" pitchFamily="34" charset="0"/>
                <a:ea typeface="Barlow" pitchFamily="34" charset="-122"/>
                <a:cs typeface="Barlow" pitchFamily="34" charset="-120"/>
              </a:rPr>
              <a:t>La podés usar ya</a:t>
            </a:r>
            <a:endParaRPr lang="en-US" sz="2200" dirty="0"/>
          </a:p>
        </p:txBody>
      </p:sp>
      <p:sp>
        <p:nvSpPr>
          <p:cNvPr id="8" name="Text 6"/>
          <p:cNvSpPr/>
          <p:nvPr/>
        </p:nvSpPr>
        <p:spPr>
          <a:xfrm>
            <a:off x="1066800" y="2862582"/>
            <a:ext cx="2999882" cy="5943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A4B78"/>
                </a:solidFill>
                <a:latin typeface="Barlow" pitchFamily="34" charset="0"/>
                <a:ea typeface="Barlow" pitchFamily="34" charset="-122"/>
                <a:cs typeface="Barlow" pitchFamily="34" charset="-120"/>
              </a:rPr>
              <a:t>Para comprar o para retirarla a tu banco.</a:t>
            </a:r>
            <a:endParaRPr lang="en-US" sz="1600" dirty="0"/>
          </a:p>
        </p:txBody>
      </p:sp>
      <p:sp>
        <p:nvSpPr>
          <p:cNvPr id="9" name="Shape 7"/>
          <p:cNvSpPr/>
          <p:nvPr/>
        </p:nvSpPr>
        <p:spPr>
          <a:xfrm>
            <a:off x="1066800" y="4210050"/>
            <a:ext cx="2912507" cy="0"/>
          </a:xfrm>
          <a:prstGeom prst="line">
            <a:avLst/>
          </a:prstGeom>
          <a:noFill/>
          <a:ln w="12700">
            <a:solidFill>
              <a:srgbClr val="D7D4EC"/>
            </a:solidFill>
            <a:prstDash val="solid"/>
          </a:ln>
        </p:spPr>
        <p:txBody>
          <a:bodyPr/>
          <a:lstStyle/>
          <a:p>
            <a:endParaRPr lang="es-AR"/>
          </a:p>
        </p:txBody>
      </p:sp>
      <p:sp>
        <p:nvSpPr>
          <p:cNvPr id="10" name="Text 8"/>
          <p:cNvSpPr/>
          <p:nvPr/>
        </p:nvSpPr>
        <p:spPr>
          <a:xfrm>
            <a:off x="1066800" y="4315460"/>
            <a:ext cx="2999882" cy="452120"/>
          </a:xfrm>
          <a:prstGeom prst="rect">
            <a:avLst/>
          </a:prstGeom>
          <a:noFill/>
          <a:ln/>
        </p:spPr>
        <p:txBody>
          <a:bodyPr wrap="square" lIns="0" tIns="0" rIns="0" bIns="0" rtlCol="0" anchor="t">
            <a:normAutofit/>
          </a:bodyPr>
          <a:lstStyle/>
          <a:p>
            <a:pPr marL="0" indent="0" algn="l">
              <a:lnSpc>
                <a:spcPts val="1680"/>
              </a:lnSpc>
              <a:buNone/>
            </a:pPr>
            <a:r>
              <a:rPr lang="en-US" sz="1200" i="1" dirty="0">
                <a:solidFill>
                  <a:srgbClr val="5B5C8C"/>
                </a:solidFill>
                <a:latin typeface="Barlow" pitchFamily="34" charset="0"/>
                <a:ea typeface="Barlow" pitchFamily="34" charset="-122"/>
                <a:cs typeface="Barlow" pitchFamily="34" charset="-120"/>
              </a:rPr>
              <a:t>En el homebanking: como el saldo disponible de tu cuenta.</a:t>
            </a:r>
            <a:endParaRPr lang="en-US" sz="1200" dirty="0"/>
          </a:p>
        </p:txBody>
      </p:sp>
      <p:sp>
        <p:nvSpPr>
          <p:cNvPr id="11" name="Shape 9"/>
          <p:cNvSpPr/>
          <p:nvPr/>
        </p:nvSpPr>
        <p:spPr>
          <a:xfrm>
            <a:off x="4385707" y="1882139"/>
            <a:ext cx="3420586" cy="3063240"/>
          </a:xfrm>
          <a:prstGeom prst="roundRect">
            <a:avLst>
              <a:gd name="adj" fmla="val 3317"/>
            </a:avLst>
          </a:prstGeom>
          <a:solidFill>
            <a:srgbClr val="EEEDF8"/>
          </a:solidFill>
          <a:ln/>
        </p:spPr>
        <p:txBody>
          <a:bodyPr/>
          <a:lstStyle/>
          <a:p>
            <a:endParaRPr lang="es-AR"/>
          </a:p>
        </p:txBody>
      </p:sp>
      <p:sp>
        <p:nvSpPr>
          <p:cNvPr id="12" name="Shape 10"/>
          <p:cNvSpPr/>
          <p:nvPr/>
        </p:nvSpPr>
        <p:spPr>
          <a:xfrm>
            <a:off x="4385707" y="1882139"/>
            <a:ext cx="3420586" cy="3063240"/>
          </a:xfrm>
          <a:custGeom>
            <a:avLst/>
            <a:gdLst/>
            <a:ahLst/>
            <a:cxnLst/>
            <a:rect l="l" t="t" r="r" b="b"/>
            <a:pathLst>
              <a:path w="3420586" h="3063240">
                <a:moveTo>
                  <a:pt x="0" y="101600"/>
                </a:moveTo>
                <a:lnTo>
                  <a:pt x="0" y="101600"/>
                </a:lnTo>
                <a:arcTo wR="101600" hR="101600" stAng="10800000" swAng="5400000"/>
                <a:lnTo>
                  <a:pt x="3318986" y="0"/>
                </a:lnTo>
                <a:arcTo wR="101600" hR="101600" stAng="16200000" swAng="5400000"/>
                <a:lnTo>
                  <a:pt x="3420586" y="101600"/>
                </a:lnTo>
                <a:arcTo wR="101600" hR="25400" stAng="0" swAng="-5400000"/>
                <a:lnTo>
                  <a:pt x="101600" y="76200"/>
                </a:lnTo>
                <a:arcTo wR="101600" hR="25400" stAng="16200000" swAng="-5400000"/>
                <a:close/>
              </a:path>
            </a:pathLst>
          </a:custGeom>
          <a:solidFill>
            <a:srgbClr val="8A5B07"/>
          </a:solidFill>
          <a:ln/>
        </p:spPr>
        <p:txBody>
          <a:bodyPr/>
          <a:lstStyle/>
          <a:p>
            <a:endParaRPr lang="es-AR"/>
          </a:p>
        </p:txBody>
      </p:sp>
      <p:sp>
        <p:nvSpPr>
          <p:cNvPr id="13" name="Text 11"/>
          <p:cNvSpPr/>
          <p:nvPr/>
        </p:nvSpPr>
        <p:spPr>
          <a:xfrm>
            <a:off x="4639707" y="2161539"/>
            <a:ext cx="2999964"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8A5B07"/>
                </a:solidFill>
                <a:latin typeface="IBM Plex Mono" pitchFamily="49" charset="0"/>
                <a:ea typeface="IBM Plex Mono" pitchFamily="49" charset="-122"/>
                <a:cs typeface="IBM Plex Mono" pitchFamily="49" charset="-120"/>
              </a:rPr>
              <a:t>COMPROMETIDO</a:t>
            </a:r>
            <a:endParaRPr lang="en-US" sz="1200" dirty="0"/>
          </a:p>
        </p:txBody>
      </p:sp>
      <p:sp>
        <p:nvSpPr>
          <p:cNvPr id="14" name="Text 12"/>
          <p:cNvSpPr/>
          <p:nvPr/>
        </p:nvSpPr>
        <p:spPr>
          <a:xfrm>
            <a:off x="4639707" y="2451100"/>
            <a:ext cx="2999964" cy="36068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06083F"/>
                </a:solidFill>
                <a:latin typeface="Barlow" pitchFamily="34" charset="0"/>
                <a:ea typeface="Barlow" pitchFamily="34" charset="-122"/>
                <a:cs typeface="Barlow" pitchFamily="34" charset="-120"/>
              </a:rPr>
              <a:t>Está reservada</a:t>
            </a:r>
            <a:endParaRPr lang="en-US" sz="2200" dirty="0"/>
          </a:p>
        </p:txBody>
      </p:sp>
      <p:sp>
        <p:nvSpPr>
          <p:cNvPr id="15" name="Text 13"/>
          <p:cNvSpPr/>
          <p:nvPr/>
        </p:nvSpPr>
        <p:spPr>
          <a:xfrm>
            <a:off x="4639707" y="2862582"/>
            <a:ext cx="2999964" cy="5943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A4B78"/>
                </a:solidFill>
                <a:latin typeface="Barlow" pitchFamily="34" charset="0"/>
                <a:ea typeface="Barlow" pitchFamily="34" charset="-122"/>
                <a:cs typeface="Barlow" pitchFamily="34" charset="-120"/>
              </a:rPr>
              <a:t>Por una orden que mandaste y todavía no se ejecutó.</a:t>
            </a:r>
            <a:endParaRPr lang="en-US" sz="1600" dirty="0"/>
          </a:p>
        </p:txBody>
      </p:sp>
      <p:sp>
        <p:nvSpPr>
          <p:cNvPr id="16" name="Shape 14"/>
          <p:cNvSpPr/>
          <p:nvPr/>
        </p:nvSpPr>
        <p:spPr>
          <a:xfrm>
            <a:off x="4639707" y="4210050"/>
            <a:ext cx="2912586" cy="0"/>
          </a:xfrm>
          <a:prstGeom prst="line">
            <a:avLst/>
          </a:prstGeom>
          <a:noFill/>
          <a:ln w="12700">
            <a:solidFill>
              <a:srgbClr val="D7D4EC"/>
            </a:solidFill>
            <a:prstDash val="solid"/>
          </a:ln>
        </p:spPr>
        <p:txBody>
          <a:bodyPr/>
          <a:lstStyle/>
          <a:p>
            <a:endParaRPr lang="es-AR"/>
          </a:p>
        </p:txBody>
      </p:sp>
      <p:sp>
        <p:nvSpPr>
          <p:cNvPr id="17" name="Text 15"/>
          <p:cNvSpPr/>
          <p:nvPr/>
        </p:nvSpPr>
        <p:spPr>
          <a:xfrm>
            <a:off x="4639707" y="4315460"/>
            <a:ext cx="2999964" cy="452120"/>
          </a:xfrm>
          <a:prstGeom prst="rect">
            <a:avLst/>
          </a:prstGeom>
          <a:noFill/>
          <a:ln/>
        </p:spPr>
        <p:txBody>
          <a:bodyPr wrap="square" lIns="0" tIns="0" rIns="0" bIns="0" rtlCol="0" anchor="t">
            <a:normAutofit/>
          </a:bodyPr>
          <a:lstStyle/>
          <a:p>
            <a:pPr marL="0" indent="0" algn="l">
              <a:lnSpc>
                <a:spcPts val="1680"/>
              </a:lnSpc>
              <a:buNone/>
            </a:pPr>
            <a:r>
              <a:rPr lang="en-US" sz="1200" i="1" dirty="0">
                <a:solidFill>
                  <a:srgbClr val="5B5C8C"/>
                </a:solidFill>
                <a:latin typeface="Barlow" pitchFamily="34" charset="0"/>
                <a:ea typeface="Barlow" pitchFamily="34" charset="-122"/>
                <a:cs typeface="Barlow" pitchFamily="34" charset="-120"/>
              </a:rPr>
              <a:t>En el homebanking: como un pago que quedó en proceso.</a:t>
            </a:r>
            <a:endParaRPr lang="en-US" sz="1200" dirty="0"/>
          </a:p>
        </p:txBody>
      </p:sp>
      <p:sp>
        <p:nvSpPr>
          <p:cNvPr id="18" name="Shape 16"/>
          <p:cNvSpPr/>
          <p:nvPr/>
        </p:nvSpPr>
        <p:spPr>
          <a:xfrm>
            <a:off x="7958693" y="1882139"/>
            <a:ext cx="3420507" cy="3063240"/>
          </a:xfrm>
          <a:prstGeom prst="roundRect">
            <a:avLst>
              <a:gd name="adj" fmla="val 3317"/>
            </a:avLst>
          </a:prstGeom>
          <a:solidFill>
            <a:srgbClr val="EEEDF8"/>
          </a:solidFill>
          <a:ln/>
        </p:spPr>
        <p:txBody>
          <a:bodyPr/>
          <a:lstStyle/>
          <a:p>
            <a:endParaRPr lang="es-AR"/>
          </a:p>
        </p:txBody>
      </p:sp>
      <p:sp>
        <p:nvSpPr>
          <p:cNvPr id="19" name="Shape 17"/>
          <p:cNvSpPr/>
          <p:nvPr/>
        </p:nvSpPr>
        <p:spPr>
          <a:xfrm>
            <a:off x="7958693" y="1882139"/>
            <a:ext cx="3420507" cy="3063240"/>
          </a:xfrm>
          <a:custGeom>
            <a:avLst/>
            <a:gdLst/>
            <a:ahLst/>
            <a:cxnLst/>
            <a:rect l="l" t="t" r="r" b="b"/>
            <a:pathLst>
              <a:path w="3420507" h="3063240">
                <a:moveTo>
                  <a:pt x="0" y="101600"/>
                </a:moveTo>
                <a:lnTo>
                  <a:pt x="0" y="101600"/>
                </a:lnTo>
                <a:arcTo wR="101600" hR="101600" stAng="10800000" swAng="5400000"/>
                <a:lnTo>
                  <a:pt x="3318907" y="0"/>
                </a:lnTo>
                <a:arcTo wR="101600" hR="101600" stAng="16200000" swAng="5400000"/>
                <a:lnTo>
                  <a:pt x="3420507" y="101600"/>
                </a:lnTo>
                <a:arcTo wR="101600" hR="25400" stAng="0" swAng="-5400000"/>
                <a:lnTo>
                  <a:pt x="101600" y="76200"/>
                </a:lnTo>
                <a:arcTo wR="101600" hR="25400" stAng="16200000" swAng="-5400000"/>
                <a:close/>
              </a:path>
            </a:pathLst>
          </a:custGeom>
          <a:solidFill>
            <a:srgbClr val="6439FF"/>
          </a:solidFill>
          <a:ln/>
        </p:spPr>
        <p:txBody>
          <a:bodyPr/>
          <a:lstStyle/>
          <a:p>
            <a:endParaRPr lang="es-AR"/>
          </a:p>
        </p:txBody>
      </p:sp>
      <p:sp>
        <p:nvSpPr>
          <p:cNvPr id="20" name="Text 18"/>
          <p:cNvSpPr/>
          <p:nvPr/>
        </p:nvSpPr>
        <p:spPr>
          <a:xfrm>
            <a:off x="8212693" y="2161539"/>
            <a:ext cx="299988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6439FF"/>
                </a:solidFill>
                <a:latin typeface="IBM Plex Mono" pitchFamily="49" charset="0"/>
                <a:ea typeface="IBM Plex Mono" pitchFamily="49" charset="-122"/>
                <a:cs typeface="IBM Plex Mono" pitchFamily="49" charset="-120"/>
              </a:rPr>
              <a:t>A LIQUIDAR</a:t>
            </a:r>
            <a:endParaRPr lang="en-US" sz="1200" dirty="0"/>
          </a:p>
        </p:txBody>
      </p:sp>
      <p:sp>
        <p:nvSpPr>
          <p:cNvPr id="21" name="Text 19"/>
          <p:cNvSpPr/>
          <p:nvPr/>
        </p:nvSpPr>
        <p:spPr>
          <a:xfrm>
            <a:off x="8212693" y="2451100"/>
            <a:ext cx="2999882" cy="69596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06083F"/>
                </a:solidFill>
                <a:latin typeface="Barlow" pitchFamily="34" charset="0"/>
                <a:ea typeface="Barlow" pitchFamily="34" charset="-122"/>
                <a:cs typeface="Barlow" pitchFamily="34" charset="-120"/>
              </a:rPr>
              <a:t>Es tuya, pero llega mañana</a:t>
            </a:r>
            <a:endParaRPr lang="en-US" sz="2200" dirty="0"/>
          </a:p>
        </p:txBody>
      </p:sp>
      <p:sp>
        <p:nvSpPr>
          <p:cNvPr id="22" name="Text 20"/>
          <p:cNvSpPr/>
          <p:nvPr/>
        </p:nvSpPr>
        <p:spPr>
          <a:xfrm>
            <a:off x="8212693" y="3197861"/>
            <a:ext cx="2999882" cy="87884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A4B78"/>
                </a:solidFill>
                <a:latin typeface="Barlow" pitchFamily="34" charset="0"/>
                <a:ea typeface="Barlow" pitchFamily="34" charset="-122"/>
                <a:cs typeface="Barlow" pitchFamily="34" charset="-120"/>
              </a:rPr>
              <a:t>Lo que cobrás por una venta. Al día hábil siguiente pasa a disponible.</a:t>
            </a:r>
            <a:endParaRPr lang="en-US" sz="1600" dirty="0"/>
          </a:p>
        </p:txBody>
      </p:sp>
      <p:sp>
        <p:nvSpPr>
          <p:cNvPr id="23" name="Shape 21"/>
          <p:cNvSpPr/>
          <p:nvPr/>
        </p:nvSpPr>
        <p:spPr>
          <a:xfrm>
            <a:off x="8212693" y="4210050"/>
            <a:ext cx="2912507" cy="0"/>
          </a:xfrm>
          <a:prstGeom prst="line">
            <a:avLst/>
          </a:prstGeom>
          <a:noFill/>
          <a:ln w="12700">
            <a:solidFill>
              <a:srgbClr val="D7D4EC"/>
            </a:solidFill>
            <a:prstDash val="solid"/>
          </a:ln>
        </p:spPr>
        <p:txBody>
          <a:bodyPr/>
          <a:lstStyle/>
          <a:p>
            <a:endParaRPr lang="es-AR"/>
          </a:p>
        </p:txBody>
      </p:sp>
      <p:sp>
        <p:nvSpPr>
          <p:cNvPr id="24" name="Text 22"/>
          <p:cNvSpPr/>
          <p:nvPr/>
        </p:nvSpPr>
        <p:spPr>
          <a:xfrm>
            <a:off x="8212693" y="4315460"/>
            <a:ext cx="2999882" cy="452120"/>
          </a:xfrm>
          <a:prstGeom prst="rect">
            <a:avLst/>
          </a:prstGeom>
          <a:noFill/>
          <a:ln/>
        </p:spPr>
        <p:txBody>
          <a:bodyPr wrap="square" lIns="0" tIns="0" rIns="0" bIns="0" rtlCol="0" anchor="t">
            <a:normAutofit/>
          </a:bodyPr>
          <a:lstStyle/>
          <a:p>
            <a:pPr marL="0" indent="0" algn="l">
              <a:lnSpc>
                <a:spcPts val="1680"/>
              </a:lnSpc>
              <a:buNone/>
            </a:pPr>
            <a:r>
              <a:rPr lang="en-US" sz="1200" i="1" dirty="0">
                <a:solidFill>
                  <a:srgbClr val="5B5C8C"/>
                </a:solidFill>
                <a:latin typeface="Barlow" pitchFamily="34" charset="0"/>
                <a:ea typeface="Barlow" pitchFamily="34" charset="-122"/>
                <a:cs typeface="Barlow" pitchFamily="34" charset="-120"/>
              </a:rPr>
              <a:t>En el homebanking: como una transferencia que se acredita al otro día.</a:t>
            </a:r>
            <a:endParaRPr lang="en-US" sz="1200" dirty="0"/>
          </a:p>
        </p:txBody>
      </p:sp>
      <p:sp>
        <p:nvSpPr>
          <p:cNvPr id="25" name="Text 23"/>
          <p:cNvSpPr/>
          <p:nvPr/>
        </p:nvSpPr>
        <p:spPr>
          <a:xfrm>
            <a:off x="812800" y="6238239"/>
            <a:ext cx="78486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5C8C"/>
                </a:solidFill>
                <a:latin typeface="IBM Plex Mono" pitchFamily="49" charset="0"/>
                <a:ea typeface="IBM Plex Mono" pitchFamily="49" charset="-122"/>
                <a:cs typeface="IBM Plex Mono" pitchFamily="49" charset="-120"/>
              </a:rPr>
              <a:t>Antes de empezar · Capacitación IOL</a:t>
            </a:r>
            <a:endParaRPr lang="en-US" sz="1200" dirty="0"/>
          </a:p>
        </p:txBody>
      </p:sp>
      <p:sp>
        <p:nvSpPr>
          <p:cNvPr id="26" name="Text 24"/>
          <p:cNvSpPr/>
          <p:nvPr/>
        </p:nvSpPr>
        <p:spPr>
          <a:xfrm>
            <a:off x="9804400" y="6238239"/>
            <a:ext cx="1574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5C8C"/>
                </a:solidFill>
                <a:latin typeface="IBM Plex Mono" pitchFamily="49" charset="0"/>
                <a:ea typeface="IBM Plex Mono" pitchFamily="49" charset="-122"/>
                <a:cs typeface="IBM Plex Mono" pitchFamily="49" charset="-120"/>
              </a:rPr>
              <a:t>07 / 12</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EED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6439FF"/>
                </a:solidFill>
                <a:latin typeface="IBM Plex Mono" pitchFamily="49" charset="0"/>
                <a:ea typeface="IBM Plex Mono" pitchFamily="49" charset="-122"/>
                <a:cs typeface="IBM Plex Mono" pitchFamily="49" charset="-120"/>
              </a:rPr>
              <a:t>03 · CÓMO SE USA EL SIMULADOR</a:t>
            </a:r>
            <a:endParaRPr lang="en-US" sz="1200" dirty="0"/>
          </a:p>
        </p:txBody>
      </p:sp>
      <p:sp>
        <p:nvSpPr>
          <p:cNvPr id="3" name="Text 1"/>
          <p:cNvSpPr>
            <a:spLocks noGrp="1"/>
          </p:cNvSpPr>
          <p:nvPr>
            <p:ph type="title"/>
          </p:nvPr>
        </p:nvSpPr>
        <p:spPr>
          <a:xfrm>
            <a:off x="812800" y="1102361"/>
            <a:ext cx="10883392" cy="551180"/>
          </a:xfrm>
          <a:prstGeom prst="rect">
            <a:avLst/>
          </a:prstGeom>
          <a:noFill/>
          <a:ln/>
        </p:spPr>
        <p:txBody>
          <a:bodyPr wrap="square" lIns="0" tIns="0" rIns="0" bIns="0" rtlCol="0" anchor="t">
            <a:normAutofit/>
          </a:bodyPr>
          <a:lstStyle/>
          <a:p>
            <a:pPr marL="0" indent="0" algn="l">
              <a:lnSpc>
                <a:spcPts val="4140"/>
              </a:lnSpc>
              <a:buNone/>
            </a:pPr>
            <a:r>
              <a:rPr lang="en-US" sz="3600" b="1" i="0" kern="0" spc="-50" dirty="0">
                <a:solidFill>
                  <a:srgbClr val="06083F"/>
                </a:solidFill>
                <a:latin typeface="Barlow" pitchFamily="34" charset="0"/>
                <a:ea typeface="Barlow" pitchFamily="34" charset="-122"/>
                <a:cs typeface="Barlow" pitchFamily="34" charset="-120"/>
              </a:rPr>
              <a:t>Elegí tu itinerario</a:t>
            </a:r>
            <a:endParaRPr lang="en-US" sz="3600" dirty="0"/>
          </a:p>
        </p:txBody>
      </p:sp>
      <p:sp>
        <p:nvSpPr>
          <p:cNvPr id="4" name="Text 2"/>
          <p:cNvSpPr/>
          <p:nvPr/>
        </p:nvSpPr>
        <p:spPr>
          <a:xfrm>
            <a:off x="812800" y="1882139"/>
            <a:ext cx="10883392" cy="3098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A4B78"/>
                </a:solidFill>
                <a:latin typeface="Barlow" pitchFamily="34" charset="0"/>
                <a:ea typeface="Barlow" pitchFamily="34" charset="-122"/>
                <a:cs typeface="Barlow" pitchFamily="34" charset="-120"/>
              </a:rPr>
              <a:t>Cada uno recorre un tramo del ciclo. Podés cambiarlo cuando quieras.</a:t>
            </a:r>
            <a:endParaRPr lang="en-US" sz="16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2960" y="2430781"/>
          <a:ext cx="10556241" cy="3058160"/>
        </p:xfrm>
        <a:graphic>
          <a:graphicData uri="http://schemas.openxmlformats.org/drawingml/2006/table">
            <a:tbl>
              <a:tblPr/>
              <a:tblGrid>
                <a:gridCol w="6544869">
                  <a:extLst>
                    <a:ext uri="{9D8B030D-6E8A-4147-A177-3AD203B41FA5}">
                      <a16:colId xmlns:a16="http://schemas.microsoft.com/office/drawing/2014/main" val="20000"/>
                    </a:ext>
                  </a:extLst>
                </a:gridCol>
                <a:gridCol w="2005686">
                  <a:extLst>
                    <a:ext uri="{9D8B030D-6E8A-4147-A177-3AD203B41FA5}">
                      <a16:colId xmlns:a16="http://schemas.microsoft.com/office/drawing/2014/main" val="20001"/>
                    </a:ext>
                  </a:extLst>
                </a:gridCol>
                <a:gridCol w="2005686">
                  <a:extLst>
                    <a:ext uri="{9D8B030D-6E8A-4147-A177-3AD203B41FA5}">
                      <a16:colId xmlns:a16="http://schemas.microsoft.com/office/drawing/2014/main" val="20002"/>
                    </a:ext>
                  </a:extLst>
                </a:gridCol>
              </a:tblGrid>
              <a:tr h="436880">
                <a:tc>
                  <a:txBody>
                    <a:bodyPr/>
                    <a:lstStyle/>
                    <a:p>
                      <a:pPr marL="0" indent="0">
                        <a:lnSpc>
                          <a:spcPts val="2240"/>
                        </a:lnSpc>
                        <a:buNone/>
                      </a:pPr>
                      <a:r>
                        <a:rPr lang="en-US" sz="1600" b="1" dirty="0">
                          <a:solidFill>
                            <a:srgbClr val="06083F"/>
                          </a:solidFill>
                          <a:latin typeface="Barlow" pitchFamily="34" charset="0"/>
                          <a:ea typeface="Barlow" pitchFamily="34" charset="-122"/>
                          <a:cs typeface="Barlow" pitchFamily="34" charset="-120"/>
                        </a:rPr>
                        <a:t>Itinerario</a:t>
                      </a:r>
                      <a:endParaRPr lang="en-US" sz="1600" dirty="0">
                        <a:latin typeface="Barlow" charset="0"/>
                        <a:ea typeface="Barlow" charset="0"/>
                        <a:cs typeface="Barlow" charset="0"/>
                      </a:endParaRPr>
                    </a:p>
                  </a:txBody>
                  <a:tcPr marL="71120" marR="71120" marT="71120" marB="71120">
                    <a:lnL w="12700" cap="flat" cmpd="sng" algn="ctr">
                      <a:solidFill>
                        <a:srgbClr val="BEBDC6"/>
                      </a:solidFill>
                      <a:prstDash val="solid"/>
                      <a:round/>
                      <a:headEnd type="none" w="med" len="med"/>
                      <a:tailEnd type="none" w="med" len="med"/>
                    </a:lnL>
                    <a:lnR w="12700" cap="flat" cmpd="sng" algn="ctr">
                      <a:solidFill>
                        <a:srgbClr val="ACAABC"/>
                      </a:solidFill>
                      <a:prstDash val="solid"/>
                      <a:round/>
                      <a:headEnd type="none" w="med" len="med"/>
                      <a:tailEnd type="none" w="med" len="med"/>
                    </a:lnR>
                    <a:lnT w="12700" cap="flat" cmpd="sng" algn="ctr">
                      <a:solidFill>
                        <a:srgbClr val="BEBDC6"/>
                      </a:solidFill>
                      <a:prstDash val="solid"/>
                      <a:round/>
                      <a:headEnd type="none" w="med" len="med"/>
                      <a:tailEnd type="none" w="med" len="med"/>
                    </a:lnT>
                    <a:lnB w="12700" cap="flat" cmpd="sng" algn="ctr">
                      <a:solidFill>
                        <a:srgbClr val="ACAABC"/>
                      </a:solidFill>
                      <a:prstDash val="solid"/>
                      <a:round/>
                      <a:headEnd type="none" w="med" len="med"/>
                      <a:tailEnd type="none" w="med" len="med"/>
                    </a:lnB>
                    <a:solidFill>
                      <a:srgbClr val="D7D4EC"/>
                    </a:solidFill>
                  </a:tcPr>
                </a:tc>
                <a:tc>
                  <a:txBody>
                    <a:bodyPr/>
                    <a:lstStyle/>
                    <a:p>
                      <a:pPr marL="0" indent="0">
                        <a:lnSpc>
                          <a:spcPts val="2240"/>
                        </a:lnSpc>
                        <a:buNone/>
                      </a:pPr>
                      <a:r>
                        <a:rPr lang="en-US" sz="1600" b="1" dirty="0">
                          <a:solidFill>
                            <a:srgbClr val="06083F"/>
                          </a:solidFill>
                          <a:latin typeface="Barlow" pitchFamily="34" charset="0"/>
                          <a:ea typeface="Barlow" pitchFamily="34" charset="-122"/>
                          <a:cs typeface="Barlow" pitchFamily="34" charset="-120"/>
                        </a:rPr>
                        <a:t>Módulos</a:t>
                      </a:r>
                      <a:endParaRPr lang="en-US" sz="1600" dirty="0">
                        <a:latin typeface="Barlow" charset="0"/>
                        <a:ea typeface="Barlow" charset="0"/>
                        <a:cs typeface="Barlow" charset="0"/>
                      </a:endParaRPr>
                    </a:p>
                  </a:txBody>
                  <a:tcPr marL="71120" marR="71120" marT="71120" marB="71120">
                    <a:lnL w="12700" cap="flat" cmpd="sng" algn="ctr">
                      <a:solidFill>
                        <a:srgbClr val="ACAABC"/>
                      </a:solidFill>
                      <a:prstDash val="solid"/>
                      <a:round/>
                      <a:headEnd type="none" w="med" len="med"/>
                      <a:tailEnd type="none" w="med" len="med"/>
                    </a:lnL>
                    <a:lnR w="12700" cap="flat" cmpd="sng" algn="ctr">
                      <a:solidFill>
                        <a:srgbClr val="ACAABC"/>
                      </a:solidFill>
                      <a:prstDash val="solid"/>
                      <a:round/>
                      <a:headEnd type="none" w="med" len="med"/>
                      <a:tailEnd type="none" w="med" len="med"/>
                    </a:lnR>
                    <a:lnT w="12700" cap="flat" cmpd="sng" algn="ctr">
                      <a:solidFill>
                        <a:srgbClr val="BEBDC6"/>
                      </a:solidFill>
                      <a:prstDash val="solid"/>
                      <a:round/>
                      <a:headEnd type="none" w="med" len="med"/>
                      <a:tailEnd type="none" w="med" len="med"/>
                    </a:lnT>
                    <a:lnB w="12700" cap="flat" cmpd="sng" algn="ctr">
                      <a:solidFill>
                        <a:srgbClr val="ACAABC"/>
                      </a:solidFill>
                      <a:prstDash val="solid"/>
                      <a:round/>
                      <a:headEnd type="none" w="med" len="med"/>
                      <a:tailEnd type="none" w="med" len="med"/>
                    </a:lnB>
                    <a:solidFill>
                      <a:srgbClr val="D7D4EC"/>
                    </a:solidFill>
                  </a:tcPr>
                </a:tc>
                <a:tc>
                  <a:txBody>
                    <a:bodyPr/>
                    <a:lstStyle/>
                    <a:p>
                      <a:pPr marL="0" indent="0" algn="r">
                        <a:lnSpc>
                          <a:spcPts val="2240"/>
                        </a:lnSpc>
                        <a:buNone/>
                      </a:pPr>
                      <a:r>
                        <a:rPr lang="en-US" sz="1600" b="1" dirty="0">
                          <a:solidFill>
                            <a:srgbClr val="06083F"/>
                          </a:solidFill>
                          <a:latin typeface="Barlow" pitchFamily="34" charset="0"/>
                          <a:ea typeface="Barlow" pitchFamily="34" charset="-122"/>
                          <a:cs typeface="Barlow" pitchFamily="34" charset="-120"/>
                        </a:rPr>
                        <a:t>Duración</a:t>
                      </a:r>
                      <a:endParaRPr lang="en-US" sz="1600" dirty="0">
                        <a:latin typeface="Barlow" charset="0"/>
                        <a:ea typeface="Barlow" charset="0"/>
                        <a:cs typeface="Barlow" charset="0"/>
                      </a:endParaRPr>
                    </a:p>
                  </a:txBody>
                  <a:tcPr marL="71120" marR="71120" marT="71120" marB="71120">
                    <a:lnL w="12700" cap="flat" cmpd="sng" algn="ctr">
                      <a:solidFill>
                        <a:srgbClr val="ACAABC"/>
                      </a:solidFill>
                      <a:prstDash val="solid"/>
                      <a:round/>
                      <a:headEnd type="none" w="med" len="med"/>
                      <a:tailEnd type="none" w="med" len="med"/>
                    </a:lnL>
                    <a:lnR w="12700" cap="flat" cmpd="sng" algn="ctr">
                      <a:solidFill>
                        <a:srgbClr val="ACAABC"/>
                      </a:solidFill>
                      <a:prstDash val="solid"/>
                      <a:round/>
                      <a:headEnd type="none" w="med" len="med"/>
                      <a:tailEnd type="none" w="med" len="med"/>
                    </a:lnR>
                    <a:lnT w="12700" cap="flat" cmpd="sng" algn="ctr">
                      <a:solidFill>
                        <a:srgbClr val="BEBDC6"/>
                      </a:solidFill>
                      <a:prstDash val="solid"/>
                      <a:round/>
                      <a:headEnd type="none" w="med" len="med"/>
                      <a:tailEnd type="none" w="med" len="med"/>
                    </a:lnT>
                    <a:lnB w="12700" cap="flat" cmpd="sng" algn="ctr">
                      <a:solidFill>
                        <a:srgbClr val="ACAABC"/>
                      </a:solidFill>
                      <a:prstDash val="solid"/>
                      <a:round/>
                      <a:headEnd type="none" w="med" len="med"/>
                      <a:tailEnd type="none" w="med" len="med"/>
                    </a:lnB>
                    <a:solidFill>
                      <a:srgbClr val="D7D4EC"/>
                    </a:solidFill>
                  </a:tcPr>
                </a:tc>
                <a:extLst>
                  <a:ext uri="{0D108BD9-81ED-4DB2-BD59-A6C34878D82A}">
                    <a16:rowId xmlns:a16="http://schemas.microsoft.com/office/drawing/2014/main" val="10000"/>
                  </a:ext>
                </a:extLst>
              </a:tr>
              <a:tr h="436880">
                <a:tc>
                  <a:txBody>
                    <a:bodyPr/>
                    <a:lstStyle/>
                    <a:p>
                      <a:pPr marL="0" indent="0">
                        <a:lnSpc>
                          <a:spcPts val="2240"/>
                        </a:lnSpc>
                        <a:buNone/>
                      </a:pPr>
                      <a:r>
                        <a:rPr lang="en-US" sz="1600" dirty="0">
                          <a:solidFill>
                            <a:srgbClr val="06083F"/>
                          </a:solidFill>
                          <a:latin typeface="Barlow" pitchFamily="34" charset="0"/>
                          <a:ea typeface="Barlow" pitchFamily="34" charset="-122"/>
                          <a:cs typeface="Barlow" pitchFamily="34" charset="-120"/>
                        </a:rPr>
                        <a:t>Ingresar dinero y comprar dólar MEP</a:t>
                      </a:r>
                      <a:endParaRPr lang="en-US" sz="1600" dirty="0">
                        <a:latin typeface="Barlow" charset="0"/>
                        <a:ea typeface="Barlow" charset="0"/>
                        <a:cs typeface="Barlow" charset="0"/>
                      </a:endParaRPr>
                    </a:p>
                  </a:txBody>
                  <a:tcPr marL="71120" marR="71120" marT="71120" marB="71120">
                    <a:lnL w="12700" cap="flat" cmpd="sng" algn="ctr">
                      <a:solidFill>
                        <a:srgbClr val="BEBDC6"/>
                      </a:solidFill>
                      <a:prstDash val="solid"/>
                      <a:round/>
                      <a:headEnd type="none" w="med" len="med"/>
                      <a:tailEnd type="none" w="med" len="med"/>
                    </a:lnL>
                    <a:lnR w="12700" cap="flat" cmpd="sng" algn="ctr">
                      <a:solidFill>
                        <a:srgbClr val="C5C4C9"/>
                      </a:solidFill>
                      <a:prstDash val="solid"/>
                      <a:round/>
                      <a:headEnd type="none" w="med" len="med"/>
                      <a:tailEnd type="none" w="med" len="med"/>
                    </a:lnR>
                    <a:lnT w="12700" cap="flat" cmpd="sng" algn="ctr">
                      <a:solidFill>
                        <a:srgbClr val="ACAABC"/>
                      </a:solidFill>
                      <a:prstDash val="solid"/>
                      <a:round/>
                      <a:headEnd type="none" w="med" len="med"/>
                      <a:tailEnd type="none" w="med" len="med"/>
                    </a:lnT>
                    <a:lnB w="12700" cap="flat" cmpd="sng" algn="ctr">
                      <a:solidFill>
                        <a:srgbClr val="C5C4C9"/>
                      </a:solidFill>
                      <a:prstDash val="solid"/>
                      <a:round/>
                      <a:headEnd type="none" w="med" len="med"/>
                      <a:tailEnd type="none" w="med" len="med"/>
                    </a:lnB>
                    <a:solidFill>
                      <a:srgbClr val="F7F6FC"/>
                    </a:solidFill>
                  </a:tcPr>
                </a:tc>
                <a:tc>
                  <a:txBody>
                    <a:bodyPr/>
                    <a:lstStyle/>
                    <a:p>
                      <a:pPr marL="0" indent="0">
                        <a:lnSpc>
                          <a:spcPts val="2240"/>
                        </a:lnSpc>
                        <a:buNone/>
                      </a:pPr>
                      <a:r>
                        <a:rPr lang="en-US" sz="1600" dirty="0">
                          <a:solidFill>
                            <a:srgbClr val="06083F"/>
                          </a:solidFill>
                          <a:latin typeface="Barlow" pitchFamily="34" charset="0"/>
                          <a:ea typeface="Barlow" pitchFamily="34" charset="-122"/>
                          <a:cs typeface="Barlow" pitchFamily="34" charset="-120"/>
                        </a:rPr>
                        <a:t>M2 · M3</a:t>
                      </a:r>
                      <a:endParaRPr lang="en-US" sz="1600" dirty="0">
                        <a:latin typeface="Barlow" charset="0"/>
                        <a:ea typeface="Barlow" charset="0"/>
                        <a:cs typeface="Barlow" charset="0"/>
                      </a:endParaRPr>
                    </a:p>
                  </a:txBody>
                  <a:tcPr marL="71120" marR="71120" marT="71120" marB="71120">
                    <a:lnL w="12700" cap="flat" cmpd="sng" algn="ctr">
                      <a:solidFill>
                        <a:srgbClr val="C5C4C9"/>
                      </a:solidFill>
                      <a:prstDash val="solid"/>
                      <a:round/>
                      <a:headEnd type="none" w="med" len="med"/>
                      <a:tailEnd type="none" w="med" len="med"/>
                    </a:lnL>
                    <a:lnR w="12700" cap="flat" cmpd="sng" algn="ctr">
                      <a:solidFill>
                        <a:srgbClr val="C5C4C9"/>
                      </a:solidFill>
                      <a:prstDash val="solid"/>
                      <a:round/>
                      <a:headEnd type="none" w="med" len="med"/>
                      <a:tailEnd type="none" w="med" len="med"/>
                    </a:lnR>
                    <a:lnT w="12700" cap="flat" cmpd="sng" algn="ctr">
                      <a:solidFill>
                        <a:srgbClr val="ACAABC"/>
                      </a:solidFill>
                      <a:prstDash val="solid"/>
                      <a:round/>
                      <a:headEnd type="none" w="med" len="med"/>
                      <a:tailEnd type="none" w="med" len="med"/>
                    </a:lnT>
                    <a:lnB w="12700" cap="flat" cmpd="sng" algn="ctr">
                      <a:solidFill>
                        <a:srgbClr val="C5C4C9"/>
                      </a:solidFill>
                      <a:prstDash val="solid"/>
                      <a:round/>
                      <a:headEnd type="none" w="med" len="med"/>
                      <a:tailEnd type="none" w="med" len="med"/>
                    </a:lnB>
                    <a:solidFill>
                      <a:srgbClr val="F7F6FC"/>
                    </a:solidFill>
                  </a:tcPr>
                </a:tc>
                <a:tc>
                  <a:txBody>
                    <a:bodyPr/>
                    <a:lstStyle/>
                    <a:p>
                      <a:pPr marL="0" indent="0" algn="r">
                        <a:lnSpc>
                          <a:spcPts val="2240"/>
                        </a:lnSpc>
                        <a:buNone/>
                      </a:pPr>
                      <a:r>
                        <a:rPr lang="en-US" sz="1600" dirty="0">
                          <a:solidFill>
                            <a:srgbClr val="06083F"/>
                          </a:solidFill>
                          <a:latin typeface="Barlow" pitchFamily="34" charset="0"/>
                          <a:ea typeface="Barlow" pitchFamily="34" charset="-122"/>
                          <a:cs typeface="Barlow" pitchFamily="34" charset="-120"/>
                        </a:rPr>
                        <a:t>6 min</a:t>
                      </a:r>
                      <a:endParaRPr lang="en-US" sz="1600" dirty="0">
                        <a:latin typeface="Barlow" charset="0"/>
                        <a:ea typeface="Barlow" charset="0"/>
                        <a:cs typeface="Barlow" charset="0"/>
                      </a:endParaRPr>
                    </a:p>
                  </a:txBody>
                  <a:tcPr marL="71120" marR="71120" marT="71120" marB="71120">
                    <a:lnL w="12700" cap="flat" cmpd="sng" algn="ctr">
                      <a:solidFill>
                        <a:srgbClr val="C5C4C9"/>
                      </a:solidFill>
                      <a:prstDash val="solid"/>
                      <a:round/>
                      <a:headEnd type="none" w="med" len="med"/>
                      <a:tailEnd type="none" w="med" len="med"/>
                    </a:lnL>
                    <a:lnR w="12700" cap="flat" cmpd="sng" algn="ctr">
                      <a:solidFill>
                        <a:srgbClr val="C5C4C9"/>
                      </a:solidFill>
                      <a:prstDash val="solid"/>
                      <a:round/>
                      <a:headEnd type="none" w="med" len="med"/>
                      <a:tailEnd type="none" w="med" len="med"/>
                    </a:lnR>
                    <a:lnT w="12700" cap="flat" cmpd="sng" algn="ctr">
                      <a:solidFill>
                        <a:srgbClr val="ACAABC"/>
                      </a:solidFill>
                      <a:prstDash val="solid"/>
                      <a:round/>
                      <a:headEnd type="none" w="med" len="med"/>
                      <a:tailEnd type="none" w="med" len="med"/>
                    </a:lnT>
                    <a:lnB w="12700" cap="flat" cmpd="sng" algn="ctr">
                      <a:solidFill>
                        <a:srgbClr val="C5C4C9"/>
                      </a:solidFill>
                      <a:prstDash val="solid"/>
                      <a:round/>
                      <a:headEnd type="none" w="med" len="med"/>
                      <a:tailEnd type="none" w="med" len="med"/>
                    </a:lnB>
                    <a:solidFill>
                      <a:srgbClr val="F7F6FC"/>
                    </a:solidFill>
                  </a:tcPr>
                </a:tc>
                <a:extLst>
                  <a:ext uri="{0D108BD9-81ED-4DB2-BD59-A6C34878D82A}">
                    <a16:rowId xmlns:a16="http://schemas.microsoft.com/office/drawing/2014/main" val="10001"/>
                  </a:ext>
                </a:extLst>
              </a:tr>
              <a:tr h="436880">
                <a:tc>
                  <a:txBody>
                    <a:bodyPr/>
                    <a:lstStyle/>
                    <a:p>
                      <a:pPr marL="0" indent="0">
                        <a:lnSpc>
                          <a:spcPts val="2240"/>
                        </a:lnSpc>
                        <a:buNone/>
                      </a:pPr>
                      <a:r>
                        <a:rPr lang="en-US" sz="1600" dirty="0">
                          <a:solidFill>
                            <a:srgbClr val="06083F"/>
                          </a:solidFill>
                          <a:latin typeface="Barlow" pitchFamily="34" charset="0"/>
                          <a:ea typeface="Barlow" pitchFamily="34" charset="-122"/>
                          <a:cs typeface="Barlow" pitchFamily="34" charset="-120"/>
                        </a:rPr>
                        <a:t>Comprar mi primer CEDEAR</a:t>
                      </a:r>
                      <a:endParaRPr lang="en-US" sz="1600" dirty="0">
                        <a:latin typeface="Barlow" charset="0"/>
                        <a:ea typeface="Barlow" charset="0"/>
                        <a:cs typeface="Barlow" charset="0"/>
                      </a:endParaRPr>
                    </a:p>
                  </a:txBody>
                  <a:tcPr marL="71120" marR="71120" marT="71120" marB="71120">
                    <a:lnL w="12700" cap="flat" cmpd="sng" algn="ctr">
                      <a:solidFill>
                        <a:srgbClr val="BEBDC6"/>
                      </a:solidFill>
                      <a:prstDash val="solid"/>
                      <a:round/>
                      <a:headEnd type="none" w="med" len="med"/>
                      <a:tailEnd type="none" w="med" len="med"/>
                    </a:lnL>
                    <a:lnR w="12700" cap="flat" cmpd="sng" algn="ctr">
                      <a:solidFill>
                        <a:srgbClr val="C5C4C9"/>
                      </a:solidFill>
                      <a:prstDash val="solid"/>
                      <a:round/>
                      <a:headEnd type="none" w="med" len="med"/>
                      <a:tailEnd type="none" w="med" len="med"/>
                    </a:lnR>
                    <a:lnT w="12700" cap="flat" cmpd="sng" algn="ctr">
                      <a:solidFill>
                        <a:srgbClr val="C5C4C9"/>
                      </a:solidFill>
                      <a:prstDash val="solid"/>
                      <a:round/>
                      <a:headEnd type="none" w="med" len="med"/>
                      <a:tailEnd type="none" w="med" len="med"/>
                    </a:lnT>
                    <a:lnB w="12700" cap="flat" cmpd="sng" algn="ctr">
                      <a:solidFill>
                        <a:srgbClr val="C5C4C9"/>
                      </a:solidFill>
                      <a:prstDash val="solid"/>
                      <a:round/>
                      <a:headEnd type="none" w="med" len="med"/>
                      <a:tailEnd type="none" w="med" len="med"/>
                    </a:lnB>
                    <a:solidFill>
                      <a:srgbClr val="F7F6FC"/>
                    </a:solidFill>
                  </a:tcPr>
                </a:tc>
                <a:tc>
                  <a:txBody>
                    <a:bodyPr/>
                    <a:lstStyle/>
                    <a:p>
                      <a:pPr marL="0" indent="0">
                        <a:lnSpc>
                          <a:spcPts val="2240"/>
                        </a:lnSpc>
                        <a:buNone/>
                      </a:pPr>
                      <a:r>
                        <a:rPr lang="en-US" sz="1600" dirty="0">
                          <a:solidFill>
                            <a:srgbClr val="06083F"/>
                          </a:solidFill>
                          <a:latin typeface="Barlow" pitchFamily="34" charset="0"/>
                          <a:ea typeface="Barlow" pitchFamily="34" charset="-122"/>
                          <a:cs typeface="Barlow" pitchFamily="34" charset="-120"/>
                        </a:rPr>
                        <a:t>M4 · M5</a:t>
                      </a:r>
                      <a:endParaRPr lang="en-US" sz="1600" dirty="0">
                        <a:latin typeface="Barlow" charset="0"/>
                        <a:ea typeface="Barlow" charset="0"/>
                        <a:cs typeface="Barlow" charset="0"/>
                      </a:endParaRPr>
                    </a:p>
                  </a:txBody>
                  <a:tcPr marL="71120" marR="71120" marT="71120" marB="71120">
                    <a:lnL w="12700" cap="flat" cmpd="sng" algn="ctr">
                      <a:solidFill>
                        <a:srgbClr val="C5C4C9"/>
                      </a:solidFill>
                      <a:prstDash val="solid"/>
                      <a:round/>
                      <a:headEnd type="none" w="med" len="med"/>
                      <a:tailEnd type="none" w="med" len="med"/>
                    </a:lnL>
                    <a:lnR w="12700" cap="flat" cmpd="sng" algn="ctr">
                      <a:solidFill>
                        <a:srgbClr val="C5C4C9"/>
                      </a:solidFill>
                      <a:prstDash val="solid"/>
                      <a:round/>
                      <a:headEnd type="none" w="med" len="med"/>
                      <a:tailEnd type="none" w="med" len="med"/>
                    </a:lnR>
                    <a:lnT w="12700" cap="flat" cmpd="sng" algn="ctr">
                      <a:solidFill>
                        <a:srgbClr val="C5C4C9"/>
                      </a:solidFill>
                      <a:prstDash val="solid"/>
                      <a:round/>
                      <a:headEnd type="none" w="med" len="med"/>
                      <a:tailEnd type="none" w="med" len="med"/>
                    </a:lnT>
                    <a:lnB w="12700" cap="flat" cmpd="sng" algn="ctr">
                      <a:solidFill>
                        <a:srgbClr val="C5C4C9"/>
                      </a:solidFill>
                      <a:prstDash val="solid"/>
                      <a:round/>
                      <a:headEnd type="none" w="med" len="med"/>
                      <a:tailEnd type="none" w="med" len="med"/>
                    </a:lnB>
                    <a:solidFill>
                      <a:srgbClr val="F7F6FC"/>
                    </a:solidFill>
                  </a:tcPr>
                </a:tc>
                <a:tc>
                  <a:txBody>
                    <a:bodyPr/>
                    <a:lstStyle/>
                    <a:p>
                      <a:pPr marL="0" indent="0" algn="r">
                        <a:lnSpc>
                          <a:spcPts val="2240"/>
                        </a:lnSpc>
                        <a:buNone/>
                      </a:pPr>
                      <a:r>
                        <a:rPr lang="en-US" sz="1600" dirty="0">
                          <a:solidFill>
                            <a:srgbClr val="06083F"/>
                          </a:solidFill>
                          <a:latin typeface="Barlow" pitchFamily="34" charset="0"/>
                          <a:ea typeface="Barlow" pitchFamily="34" charset="-122"/>
                          <a:cs typeface="Barlow" pitchFamily="34" charset="-120"/>
                        </a:rPr>
                        <a:t>7 min</a:t>
                      </a:r>
                      <a:endParaRPr lang="en-US" sz="1600" dirty="0">
                        <a:latin typeface="Barlow" charset="0"/>
                        <a:ea typeface="Barlow" charset="0"/>
                        <a:cs typeface="Barlow" charset="0"/>
                      </a:endParaRPr>
                    </a:p>
                  </a:txBody>
                  <a:tcPr marL="71120" marR="71120" marT="71120" marB="71120">
                    <a:lnL w="12700" cap="flat" cmpd="sng" algn="ctr">
                      <a:solidFill>
                        <a:srgbClr val="C5C4C9"/>
                      </a:solidFill>
                      <a:prstDash val="solid"/>
                      <a:round/>
                      <a:headEnd type="none" w="med" len="med"/>
                      <a:tailEnd type="none" w="med" len="med"/>
                    </a:lnL>
                    <a:lnR w="12700" cap="flat" cmpd="sng" algn="ctr">
                      <a:solidFill>
                        <a:srgbClr val="C5C4C9"/>
                      </a:solidFill>
                      <a:prstDash val="solid"/>
                      <a:round/>
                      <a:headEnd type="none" w="med" len="med"/>
                      <a:tailEnd type="none" w="med" len="med"/>
                    </a:lnR>
                    <a:lnT w="12700" cap="flat" cmpd="sng" algn="ctr">
                      <a:solidFill>
                        <a:srgbClr val="C5C4C9"/>
                      </a:solidFill>
                      <a:prstDash val="solid"/>
                      <a:round/>
                      <a:headEnd type="none" w="med" len="med"/>
                      <a:tailEnd type="none" w="med" len="med"/>
                    </a:lnT>
                    <a:lnB w="12700" cap="flat" cmpd="sng" algn="ctr">
                      <a:solidFill>
                        <a:srgbClr val="C5C4C9"/>
                      </a:solidFill>
                      <a:prstDash val="solid"/>
                      <a:round/>
                      <a:headEnd type="none" w="med" len="med"/>
                      <a:tailEnd type="none" w="med" len="med"/>
                    </a:lnB>
                    <a:solidFill>
                      <a:srgbClr val="F7F6FC"/>
                    </a:solidFill>
                  </a:tcPr>
                </a:tc>
                <a:extLst>
                  <a:ext uri="{0D108BD9-81ED-4DB2-BD59-A6C34878D82A}">
                    <a16:rowId xmlns:a16="http://schemas.microsoft.com/office/drawing/2014/main" val="10002"/>
                  </a:ext>
                </a:extLst>
              </a:tr>
              <a:tr h="436880">
                <a:tc>
                  <a:txBody>
                    <a:bodyPr/>
                    <a:lstStyle/>
                    <a:p>
                      <a:pPr marL="0" indent="0">
                        <a:lnSpc>
                          <a:spcPts val="2240"/>
                        </a:lnSpc>
                        <a:buNone/>
                      </a:pPr>
                      <a:r>
                        <a:rPr lang="en-US" sz="1600" dirty="0">
                          <a:solidFill>
                            <a:srgbClr val="06083F"/>
                          </a:solidFill>
                          <a:latin typeface="Barlow" pitchFamily="34" charset="0"/>
                          <a:ea typeface="Barlow" pitchFamily="34" charset="-122"/>
                          <a:cs typeface="Barlow" pitchFamily="34" charset="-120"/>
                        </a:rPr>
                        <a:t>Invertir en obligaciones negociables</a:t>
                      </a:r>
                      <a:endParaRPr lang="en-US" sz="1600" dirty="0">
                        <a:latin typeface="Barlow" charset="0"/>
                        <a:ea typeface="Barlow" charset="0"/>
                        <a:cs typeface="Barlow" charset="0"/>
                      </a:endParaRPr>
                    </a:p>
                  </a:txBody>
                  <a:tcPr marL="71120" marR="71120" marT="71120" marB="71120">
                    <a:lnL w="12700" cap="flat" cmpd="sng" algn="ctr">
                      <a:solidFill>
                        <a:srgbClr val="BEBDC6"/>
                      </a:solidFill>
                      <a:prstDash val="solid"/>
                      <a:round/>
                      <a:headEnd type="none" w="med" len="med"/>
                      <a:tailEnd type="none" w="med" len="med"/>
                    </a:lnL>
                    <a:lnR w="12700" cap="flat" cmpd="sng" algn="ctr">
                      <a:solidFill>
                        <a:srgbClr val="C5C4C9"/>
                      </a:solidFill>
                      <a:prstDash val="solid"/>
                      <a:round/>
                      <a:headEnd type="none" w="med" len="med"/>
                      <a:tailEnd type="none" w="med" len="med"/>
                    </a:lnR>
                    <a:lnT w="12700" cap="flat" cmpd="sng" algn="ctr">
                      <a:solidFill>
                        <a:srgbClr val="C5C4C9"/>
                      </a:solidFill>
                      <a:prstDash val="solid"/>
                      <a:round/>
                      <a:headEnd type="none" w="med" len="med"/>
                      <a:tailEnd type="none" w="med" len="med"/>
                    </a:lnT>
                    <a:lnB w="12700" cap="flat" cmpd="sng" algn="ctr">
                      <a:solidFill>
                        <a:srgbClr val="C5C4C9"/>
                      </a:solidFill>
                      <a:prstDash val="solid"/>
                      <a:round/>
                      <a:headEnd type="none" w="med" len="med"/>
                      <a:tailEnd type="none" w="med" len="med"/>
                    </a:lnB>
                    <a:solidFill>
                      <a:srgbClr val="F7F6FC"/>
                    </a:solidFill>
                  </a:tcPr>
                </a:tc>
                <a:tc>
                  <a:txBody>
                    <a:bodyPr/>
                    <a:lstStyle/>
                    <a:p>
                      <a:pPr marL="0" indent="0">
                        <a:lnSpc>
                          <a:spcPts val="2240"/>
                        </a:lnSpc>
                        <a:buNone/>
                      </a:pPr>
                      <a:r>
                        <a:rPr lang="en-US" sz="1600" dirty="0">
                          <a:solidFill>
                            <a:srgbClr val="06083F"/>
                          </a:solidFill>
                          <a:latin typeface="Barlow" pitchFamily="34" charset="0"/>
                          <a:ea typeface="Barlow" pitchFamily="34" charset="-122"/>
                          <a:cs typeface="Barlow" pitchFamily="34" charset="-120"/>
                        </a:rPr>
                        <a:t>M4</a:t>
                      </a:r>
                      <a:endParaRPr lang="en-US" sz="1600" dirty="0">
                        <a:latin typeface="Barlow" charset="0"/>
                        <a:ea typeface="Barlow" charset="0"/>
                        <a:cs typeface="Barlow" charset="0"/>
                      </a:endParaRPr>
                    </a:p>
                  </a:txBody>
                  <a:tcPr marL="71120" marR="71120" marT="71120" marB="71120">
                    <a:lnL w="12700" cap="flat" cmpd="sng" algn="ctr">
                      <a:solidFill>
                        <a:srgbClr val="C5C4C9"/>
                      </a:solidFill>
                      <a:prstDash val="solid"/>
                      <a:round/>
                      <a:headEnd type="none" w="med" len="med"/>
                      <a:tailEnd type="none" w="med" len="med"/>
                    </a:lnL>
                    <a:lnR w="12700" cap="flat" cmpd="sng" algn="ctr">
                      <a:solidFill>
                        <a:srgbClr val="C5C4C9"/>
                      </a:solidFill>
                      <a:prstDash val="solid"/>
                      <a:round/>
                      <a:headEnd type="none" w="med" len="med"/>
                      <a:tailEnd type="none" w="med" len="med"/>
                    </a:lnR>
                    <a:lnT w="12700" cap="flat" cmpd="sng" algn="ctr">
                      <a:solidFill>
                        <a:srgbClr val="C5C4C9"/>
                      </a:solidFill>
                      <a:prstDash val="solid"/>
                      <a:round/>
                      <a:headEnd type="none" w="med" len="med"/>
                      <a:tailEnd type="none" w="med" len="med"/>
                    </a:lnT>
                    <a:lnB w="12700" cap="flat" cmpd="sng" algn="ctr">
                      <a:solidFill>
                        <a:srgbClr val="C5C4C9"/>
                      </a:solidFill>
                      <a:prstDash val="solid"/>
                      <a:round/>
                      <a:headEnd type="none" w="med" len="med"/>
                      <a:tailEnd type="none" w="med" len="med"/>
                    </a:lnB>
                    <a:solidFill>
                      <a:srgbClr val="F7F6FC"/>
                    </a:solidFill>
                  </a:tcPr>
                </a:tc>
                <a:tc>
                  <a:txBody>
                    <a:bodyPr/>
                    <a:lstStyle/>
                    <a:p>
                      <a:pPr marL="0" indent="0" algn="r">
                        <a:lnSpc>
                          <a:spcPts val="2240"/>
                        </a:lnSpc>
                        <a:buNone/>
                      </a:pPr>
                      <a:r>
                        <a:rPr lang="en-US" sz="1600" dirty="0">
                          <a:solidFill>
                            <a:srgbClr val="06083F"/>
                          </a:solidFill>
                          <a:latin typeface="Barlow" pitchFamily="34" charset="0"/>
                          <a:ea typeface="Barlow" pitchFamily="34" charset="-122"/>
                          <a:cs typeface="Barlow" pitchFamily="34" charset="-120"/>
                        </a:rPr>
                        <a:t>6 min</a:t>
                      </a:r>
                      <a:endParaRPr lang="en-US" sz="1600" dirty="0">
                        <a:latin typeface="Barlow" charset="0"/>
                        <a:ea typeface="Barlow" charset="0"/>
                        <a:cs typeface="Barlow" charset="0"/>
                      </a:endParaRPr>
                    </a:p>
                  </a:txBody>
                  <a:tcPr marL="71120" marR="71120" marT="71120" marB="71120">
                    <a:lnL w="12700" cap="flat" cmpd="sng" algn="ctr">
                      <a:solidFill>
                        <a:srgbClr val="C5C4C9"/>
                      </a:solidFill>
                      <a:prstDash val="solid"/>
                      <a:round/>
                      <a:headEnd type="none" w="med" len="med"/>
                      <a:tailEnd type="none" w="med" len="med"/>
                    </a:lnL>
                    <a:lnR w="12700" cap="flat" cmpd="sng" algn="ctr">
                      <a:solidFill>
                        <a:srgbClr val="C5C4C9"/>
                      </a:solidFill>
                      <a:prstDash val="solid"/>
                      <a:round/>
                      <a:headEnd type="none" w="med" len="med"/>
                      <a:tailEnd type="none" w="med" len="med"/>
                    </a:lnR>
                    <a:lnT w="12700" cap="flat" cmpd="sng" algn="ctr">
                      <a:solidFill>
                        <a:srgbClr val="C5C4C9"/>
                      </a:solidFill>
                      <a:prstDash val="solid"/>
                      <a:round/>
                      <a:headEnd type="none" w="med" len="med"/>
                      <a:tailEnd type="none" w="med" len="med"/>
                    </a:lnT>
                    <a:lnB w="12700" cap="flat" cmpd="sng" algn="ctr">
                      <a:solidFill>
                        <a:srgbClr val="C5C4C9"/>
                      </a:solidFill>
                      <a:prstDash val="solid"/>
                      <a:round/>
                      <a:headEnd type="none" w="med" len="med"/>
                      <a:tailEnd type="none" w="med" len="med"/>
                    </a:lnB>
                    <a:solidFill>
                      <a:srgbClr val="F7F6FC"/>
                    </a:solidFill>
                  </a:tcPr>
                </a:tc>
                <a:extLst>
                  <a:ext uri="{0D108BD9-81ED-4DB2-BD59-A6C34878D82A}">
                    <a16:rowId xmlns:a16="http://schemas.microsoft.com/office/drawing/2014/main" val="10003"/>
                  </a:ext>
                </a:extLst>
              </a:tr>
              <a:tr h="436880">
                <a:tc>
                  <a:txBody>
                    <a:bodyPr/>
                    <a:lstStyle/>
                    <a:p>
                      <a:pPr marL="0" indent="0">
                        <a:lnSpc>
                          <a:spcPts val="2240"/>
                        </a:lnSpc>
                        <a:buNone/>
                      </a:pPr>
                      <a:r>
                        <a:rPr lang="en-US" sz="1600" dirty="0">
                          <a:solidFill>
                            <a:srgbClr val="06083F"/>
                          </a:solidFill>
                          <a:latin typeface="Barlow" pitchFamily="34" charset="0"/>
                          <a:ea typeface="Barlow" pitchFamily="34" charset="-122"/>
                          <a:cs typeface="Barlow" pitchFamily="34" charset="-120"/>
                        </a:rPr>
                        <a:t>Vender, esperar la liquidación y retirar</a:t>
                      </a:r>
                      <a:endParaRPr lang="en-US" sz="1600" dirty="0">
                        <a:latin typeface="Barlow" charset="0"/>
                        <a:ea typeface="Barlow" charset="0"/>
                        <a:cs typeface="Barlow" charset="0"/>
                      </a:endParaRPr>
                    </a:p>
                  </a:txBody>
                  <a:tcPr marL="71120" marR="71120" marT="71120" marB="71120">
                    <a:lnL w="12700" cap="flat" cmpd="sng" algn="ctr">
                      <a:solidFill>
                        <a:srgbClr val="BEBDC6"/>
                      </a:solidFill>
                      <a:prstDash val="solid"/>
                      <a:round/>
                      <a:headEnd type="none" w="med" len="med"/>
                      <a:tailEnd type="none" w="med" len="med"/>
                    </a:lnL>
                    <a:lnR w="12700" cap="flat" cmpd="sng" algn="ctr">
                      <a:solidFill>
                        <a:srgbClr val="C5C4C9"/>
                      </a:solidFill>
                      <a:prstDash val="solid"/>
                      <a:round/>
                      <a:headEnd type="none" w="med" len="med"/>
                      <a:tailEnd type="none" w="med" len="med"/>
                    </a:lnR>
                    <a:lnT w="12700" cap="flat" cmpd="sng" algn="ctr">
                      <a:solidFill>
                        <a:srgbClr val="C5C4C9"/>
                      </a:solidFill>
                      <a:prstDash val="solid"/>
                      <a:round/>
                      <a:headEnd type="none" w="med" len="med"/>
                      <a:tailEnd type="none" w="med" len="med"/>
                    </a:lnT>
                    <a:lnB w="12700" cap="flat" cmpd="sng" algn="ctr">
                      <a:solidFill>
                        <a:srgbClr val="C5C4C9"/>
                      </a:solidFill>
                      <a:prstDash val="solid"/>
                      <a:round/>
                      <a:headEnd type="none" w="med" len="med"/>
                      <a:tailEnd type="none" w="med" len="med"/>
                    </a:lnB>
                    <a:solidFill>
                      <a:srgbClr val="F7F6FC"/>
                    </a:solidFill>
                  </a:tcPr>
                </a:tc>
                <a:tc>
                  <a:txBody>
                    <a:bodyPr/>
                    <a:lstStyle/>
                    <a:p>
                      <a:pPr marL="0" indent="0">
                        <a:lnSpc>
                          <a:spcPts val="2240"/>
                        </a:lnSpc>
                        <a:buNone/>
                      </a:pPr>
                      <a:r>
                        <a:rPr lang="en-US" sz="1600" dirty="0">
                          <a:solidFill>
                            <a:srgbClr val="06083F"/>
                          </a:solidFill>
                          <a:latin typeface="Barlow" pitchFamily="34" charset="0"/>
                          <a:ea typeface="Barlow" pitchFamily="34" charset="-122"/>
                          <a:cs typeface="Barlow" pitchFamily="34" charset="-120"/>
                        </a:rPr>
                        <a:t>M6 · M7</a:t>
                      </a:r>
                      <a:endParaRPr lang="en-US" sz="1600" dirty="0">
                        <a:latin typeface="Barlow" charset="0"/>
                        <a:ea typeface="Barlow" charset="0"/>
                        <a:cs typeface="Barlow" charset="0"/>
                      </a:endParaRPr>
                    </a:p>
                  </a:txBody>
                  <a:tcPr marL="71120" marR="71120" marT="71120" marB="71120">
                    <a:lnL w="12700" cap="flat" cmpd="sng" algn="ctr">
                      <a:solidFill>
                        <a:srgbClr val="C5C4C9"/>
                      </a:solidFill>
                      <a:prstDash val="solid"/>
                      <a:round/>
                      <a:headEnd type="none" w="med" len="med"/>
                      <a:tailEnd type="none" w="med" len="med"/>
                    </a:lnL>
                    <a:lnR w="12700" cap="flat" cmpd="sng" algn="ctr">
                      <a:solidFill>
                        <a:srgbClr val="C5C4C9"/>
                      </a:solidFill>
                      <a:prstDash val="solid"/>
                      <a:round/>
                      <a:headEnd type="none" w="med" len="med"/>
                      <a:tailEnd type="none" w="med" len="med"/>
                    </a:lnR>
                    <a:lnT w="12700" cap="flat" cmpd="sng" algn="ctr">
                      <a:solidFill>
                        <a:srgbClr val="C5C4C9"/>
                      </a:solidFill>
                      <a:prstDash val="solid"/>
                      <a:round/>
                      <a:headEnd type="none" w="med" len="med"/>
                      <a:tailEnd type="none" w="med" len="med"/>
                    </a:lnT>
                    <a:lnB w="12700" cap="flat" cmpd="sng" algn="ctr">
                      <a:solidFill>
                        <a:srgbClr val="C5C4C9"/>
                      </a:solidFill>
                      <a:prstDash val="solid"/>
                      <a:round/>
                      <a:headEnd type="none" w="med" len="med"/>
                      <a:tailEnd type="none" w="med" len="med"/>
                    </a:lnB>
                    <a:solidFill>
                      <a:srgbClr val="F7F6FC"/>
                    </a:solidFill>
                  </a:tcPr>
                </a:tc>
                <a:tc>
                  <a:txBody>
                    <a:bodyPr/>
                    <a:lstStyle/>
                    <a:p>
                      <a:pPr marL="0" indent="0" algn="r">
                        <a:lnSpc>
                          <a:spcPts val="2240"/>
                        </a:lnSpc>
                        <a:buNone/>
                      </a:pPr>
                      <a:r>
                        <a:rPr lang="en-US" sz="1600" dirty="0">
                          <a:solidFill>
                            <a:srgbClr val="06083F"/>
                          </a:solidFill>
                          <a:latin typeface="Barlow" pitchFamily="34" charset="0"/>
                          <a:ea typeface="Barlow" pitchFamily="34" charset="-122"/>
                          <a:cs typeface="Barlow" pitchFamily="34" charset="-120"/>
                        </a:rPr>
                        <a:t>7 min</a:t>
                      </a:r>
                      <a:endParaRPr lang="en-US" sz="1600" dirty="0">
                        <a:latin typeface="Barlow" charset="0"/>
                        <a:ea typeface="Barlow" charset="0"/>
                        <a:cs typeface="Barlow" charset="0"/>
                      </a:endParaRPr>
                    </a:p>
                  </a:txBody>
                  <a:tcPr marL="71120" marR="71120" marT="71120" marB="71120">
                    <a:lnL w="12700" cap="flat" cmpd="sng" algn="ctr">
                      <a:solidFill>
                        <a:srgbClr val="C5C4C9"/>
                      </a:solidFill>
                      <a:prstDash val="solid"/>
                      <a:round/>
                      <a:headEnd type="none" w="med" len="med"/>
                      <a:tailEnd type="none" w="med" len="med"/>
                    </a:lnL>
                    <a:lnR w="12700" cap="flat" cmpd="sng" algn="ctr">
                      <a:solidFill>
                        <a:srgbClr val="C5C4C9"/>
                      </a:solidFill>
                      <a:prstDash val="solid"/>
                      <a:round/>
                      <a:headEnd type="none" w="med" len="med"/>
                      <a:tailEnd type="none" w="med" len="med"/>
                    </a:lnR>
                    <a:lnT w="12700" cap="flat" cmpd="sng" algn="ctr">
                      <a:solidFill>
                        <a:srgbClr val="C5C4C9"/>
                      </a:solidFill>
                      <a:prstDash val="solid"/>
                      <a:round/>
                      <a:headEnd type="none" w="med" len="med"/>
                      <a:tailEnd type="none" w="med" len="med"/>
                    </a:lnT>
                    <a:lnB w="12700" cap="flat" cmpd="sng" algn="ctr">
                      <a:solidFill>
                        <a:srgbClr val="C5C4C9"/>
                      </a:solidFill>
                      <a:prstDash val="solid"/>
                      <a:round/>
                      <a:headEnd type="none" w="med" len="med"/>
                      <a:tailEnd type="none" w="med" len="med"/>
                    </a:lnB>
                    <a:solidFill>
                      <a:srgbClr val="F7F6FC"/>
                    </a:solidFill>
                  </a:tcPr>
                </a:tc>
                <a:extLst>
                  <a:ext uri="{0D108BD9-81ED-4DB2-BD59-A6C34878D82A}">
                    <a16:rowId xmlns:a16="http://schemas.microsoft.com/office/drawing/2014/main" val="10004"/>
                  </a:ext>
                </a:extLst>
              </a:tr>
              <a:tr h="436880">
                <a:tc>
                  <a:txBody>
                    <a:bodyPr/>
                    <a:lstStyle/>
                    <a:p>
                      <a:pPr marL="0" indent="0">
                        <a:lnSpc>
                          <a:spcPts val="2240"/>
                        </a:lnSpc>
                        <a:buNone/>
                      </a:pPr>
                      <a:r>
                        <a:rPr lang="en-US" sz="1600" dirty="0">
                          <a:solidFill>
                            <a:srgbClr val="06083F"/>
                          </a:solidFill>
                          <a:latin typeface="Barlow" pitchFamily="34" charset="0"/>
                          <a:ea typeface="Barlow" pitchFamily="34" charset="-122"/>
                          <a:cs typeface="Barlow" pitchFamily="34" charset="-120"/>
                        </a:rPr>
                        <a:t>Ciclo completo de una inversión (recomendado)</a:t>
                      </a:r>
                      <a:endParaRPr lang="en-US" sz="1600" dirty="0">
                        <a:latin typeface="Barlow" charset="0"/>
                        <a:ea typeface="Barlow" charset="0"/>
                        <a:cs typeface="Barlow" charset="0"/>
                      </a:endParaRPr>
                    </a:p>
                  </a:txBody>
                  <a:tcPr marL="71120" marR="71120" marT="71120" marB="71120">
                    <a:lnL w="12700" cap="flat" cmpd="sng" algn="ctr">
                      <a:solidFill>
                        <a:srgbClr val="BEBDC6"/>
                      </a:solidFill>
                      <a:prstDash val="solid"/>
                      <a:round/>
                      <a:headEnd type="none" w="med" len="med"/>
                      <a:tailEnd type="none" w="med" len="med"/>
                    </a:lnL>
                    <a:lnR w="12700" cap="flat" cmpd="sng" algn="ctr">
                      <a:solidFill>
                        <a:srgbClr val="B98F31"/>
                      </a:solidFill>
                      <a:prstDash val="solid"/>
                      <a:round/>
                      <a:headEnd type="none" w="med" len="med"/>
                      <a:tailEnd type="none" w="med" len="med"/>
                    </a:lnR>
                    <a:lnT w="12700" cap="flat" cmpd="sng" algn="ctr">
                      <a:solidFill>
                        <a:srgbClr val="C5C4C9"/>
                      </a:solidFill>
                      <a:prstDash val="solid"/>
                      <a:round/>
                      <a:headEnd type="none" w="med" len="med"/>
                      <a:tailEnd type="none" w="med" len="med"/>
                    </a:lnT>
                    <a:lnB w="12700" cap="flat" cmpd="sng" algn="ctr">
                      <a:solidFill>
                        <a:srgbClr val="B98F31"/>
                      </a:solidFill>
                      <a:prstDash val="solid"/>
                      <a:round/>
                      <a:headEnd type="none" w="med" len="med"/>
                      <a:tailEnd type="none" w="med" len="med"/>
                    </a:lnB>
                    <a:solidFill>
                      <a:srgbClr val="E8B23A"/>
                    </a:solidFill>
                  </a:tcPr>
                </a:tc>
                <a:tc>
                  <a:txBody>
                    <a:bodyPr/>
                    <a:lstStyle/>
                    <a:p>
                      <a:pPr marL="0" indent="0">
                        <a:lnSpc>
                          <a:spcPts val="2240"/>
                        </a:lnSpc>
                        <a:buNone/>
                      </a:pPr>
                      <a:r>
                        <a:rPr lang="en-US" sz="1600" dirty="0">
                          <a:solidFill>
                            <a:srgbClr val="06083F"/>
                          </a:solidFill>
                          <a:latin typeface="Barlow" pitchFamily="34" charset="0"/>
                          <a:ea typeface="Barlow" pitchFamily="34" charset="-122"/>
                          <a:cs typeface="Barlow" pitchFamily="34" charset="-120"/>
                        </a:rPr>
                        <a:t>M2 → M7</a:t>
                      </a:r>
                      <a:endParaRPr lang="en-US" sz="1600" dirty="0">
                        <a:latin typeface="Barlow" charset="0"/>
                        <a:ea typeface="Barlow" charset="0"/>
                        <a:cs typeface="Barlow" charset="0"/>
                      </a:endParaRPr>
                    </a:p>
                  </a:txBody>
                  <a:tcPr marL="71120" marR="71120" marT="71120" marB="71120">
                    <a:lnL w="12700" cap="flat" cmpd="sng" algn="ctr">
                      <a:solidFill>
                        <a:srgbClr val="B98F31"/>
                      </a:solidFill>
                      <a:prstDash val="solid"/>
                      <a:round/>
                      <a:headEnd type="none" w="med" len="med"/>
                      <a:tailEnd type="none" w="med" len="med"/>
                    </a:lnL>
                    <a:lnR w="12700" cap="flat" cmpd="sng" algn="ctr">
                      <a:solidFill>
                        <a:srgbClr val="B98F31"/>
                      </a:solidFill>
                      <a:prstDash val="solid"/>
                      <a:round/>
                      <a:headEnd type="none" w="med" len="med"/>
                      <a:tailEnd type="none" w="med" len="med"/>
                    </a:lnR>
                    <a:lnT w="12700" cap="flat" cmpd="sng" algn="ctr">
                      <a:solidFill>
                        <a:srgbClr val="C5C4C9"/>
                      </a:solidFill>
                      <a:prstDash val="solid"/>
                      <a:round/>
                      <a:headEnd type="none" w="med" len="med"/>
                      <a:tailEnd type="none" w="med" len="med"/>
                    </a:lnT>
                    <a:lnB w="12700" cap="flat" cmpd="sng" algn="ctr">
                      <a:solidFill>
                        <a:srgbClr val="B98F31"/>
                      </a:solidFill>
                      <a:prstDash val="solid"/>
                      <a:round/>
                      <a:headEnd type="none" w="med" len="med"/>
                      <a:tailEnd type="none" w="med" len="med"/>
                    </a:lnB>
                    <a:solidFill>
                      <a:srgbClr val="E8B23A"/>
                    </a:solidFill>
                  </a:tcPr>
                </a:tc>
                <a:tc>
                  <a:txBody>
                    <a:bodyPr/>
                    <a:lstStyle/>
                    <a:p>
                      <a:pPr marL="0" indent="0" algn="r">
                        <a:lnSpc>
                          <a:spcPts val="2240"/>
                        </a:lnSpc>
                        <a:buNone/>
                      </a:pPr>
                      <a:r>
                        <a:rPr lang="en-US" sz="1600" dirty="0">
                          <a:solidFill>
                            <a:srgbClr val="06083F"/>
                          </a:solidFill>
                          <a:latin typeface="Barlow" pitchFamily="34" charset="0"/>
                          <a:ea typeface="Barlow" pitchFamily="34" charset="-122"/>
                          <a:cs typeface="Barlow" pitchFamily="34" charset="-120"/>
                        </a:rPr>
                        <a:t>18 min</a:t>
                      </a:r>
                      <a:endParaRPr lang="en-US" sz="1600" dirty="0">
                        <a:latin typeface="Barlow" charset="0"/>
                        <a:ea typeface="Barlow" charset="0"/>
                        <a:cs typeface="Barlow" charset="0"/>
                      </a:endParaRPr>
                    </a:p>
                  </a:txBody>
                  <a:tcPr marL="71120" marR="71120" marT="71120" marB="71120">
                    <a:lnL w="12700" cap="flat" cmpd="sng" algn="ctr">
                      <a:solidFill>
                        <a:srgbClr val="B98F31"/>
                      </a:solidFill>
                      <a:prstDash val="solid"/>
                      <a:round/>
                      <a:headEnd type="none" w="med" len="med"/>
                      <a:tailEnd type="none" w="med" len="med"/>
                    </a:lnL>
                    <a:lnR w="12700" cap="flat" cmpd="sng" algn="ctr">
                      <a:solidFill>
                        <a:srgbClr val="B98F31"/>
                      </a:solidFill>
                      <a:prstDash val="solid"/>
                      <a:round/>
                      <a:headEnd type="none" w="med" len="med"/>
                      <a:tailEnd type="none" w="med" len="med"/>
                    </a:lnR>
                    <a:lnT w="12700" cap="flat" cmpd="sng" algn="ctr">
                      <a:solidFill>
                        <a:srgbClr val="C5C4C9"/>
                      </a:solidFill>
                      <a:prstDash val="solid"/>
                      <a:round/>
                      <a:headEnd type="none" w="med" len="med"/>
                      <a:tailEnd type="none" w="med" len="med"/>
                    </a:lnT>
                    <a:lnB w="12700" cap="flat" cmpd="sng" algn="ctr">
                      <a:solidFill>
                        <a:srgbClr val="B98F31"/>
                      </a:solidFill>
                      <a:prstDash val="solid"/>
                      <a:round/>
                      <a:headEnd type="none" w="med" len="med"/>
                      <a:tailEnd type="none" w="med" len="med"/>
                    </a:lnB>
                    <a:solidFill>
                      <a:srgbClr val="E8B23A"/>
                    </a:solidFill>
                  </a:tcPr>
                </a:tc>
                <a:extLst>
                  <a:ext uri="{0D108BD9-81ED-4DB2-BD59-A6C34878D82A}">
                    <a16:rowId xmlns:a16="http://schemas.microsoft.com/office/drawing/2014/main" val="10005"/>
                  </a:ext>
                </a:extLst>
              </a:tr>
              <a:tr h="436880">
                <a:tc>
                  <a:txBody>
                    <a:bodyPr/>
                    <a:lstStyle/>
                    <a:p>
                      <a:pPr marL="0" indent="0">
                        <a:lnSpc>
                          <a:spcPts val="2240"/>
                        </a:lnSpc>
                        <a:buNone/>
                      </a:pPr>
                      <a:r>
                        <a:rPr lang="en-US" sz="1600" dirty="0">
                          <a:solidFill>
                            <a:srgbClr val="06083F"/>
                          </a:solidFill>
                          <a:latin typeface="Barlow" pitchFamily="34" charset="0"/>
                          <a:ea typeface="Barlow" pitchFamily="34" charset="-122"/>
                          <a:cs typeface="Barlow" pitchFamily="34" charset="-120"/>
                        </a:rPr>
                        <a:t>Explorar por mi cuenta (sin guía)</a:t>
                      </a:r>
                      <a:endParaRPr lang="en-US" sz="1600" dirty="0">
                        <a:latin typeface="Barlow" charset="0"/>
                        <a:ea typeface="Barlow" charset="0"/>
                        <a:cs typeface="Barlow" charset="0"/>
                      </a:endParaRPr>
                    </a:p>
                  </a:txBody>
                  <a:tcPr marL="71120" marR="71120" marT="71120" marB="71120">
                    <a:lnL w="12700" cap="flat" cmpd="sng" algn="ctr">
                      <a:solidFill>
                        <a:srgbClr val="BEBDC6"/>
                      </a:solidFill>
                      <a:prstDash val="solid"/>
                      <a:round/>
                      <a:headEnd type="none" w="med" len="med"/>
                      <a:tailEnd type="none" w="med" len="med"/>
                    </a:lnL>
                    <a:lnR w="12700" cap="flat" cmpd="sng" algn="ctr">
                      <a:solidFill>
                        <a:srgbClr val="C5C4C9"/>
                      </a:solidFill>
                      <a:prstDash val="solid"/>
                      <a:round/>
                      <a:headEnd type="none" w="med" len="med"/>
                      <a:tailEnd type="none" w="med" len="med"/>
                    </a:lnR>
                    <a:lnT w="12700" cap="flat" cmpd="sng" algn="ctr">
                      <a:solidFill>
                        <a:srgbClr val="B98F31"/>
                      </a:solidFill>
                      <a:prstDash val="solid"/>
                      <a:round/>
                      <a:headEnd type="none" w="med" len="med"/>
                      <a:tailEnd type="none" w="med" len="med"/>
                    </a:lnT>
                    <a:lnB w="12700" cap="flat" cmpd="sng" algn="ctr">
                      <a:solidFill>
                        <a:srgbClr val="C5C4C9"/>
                      </a:solidFill>
                      <a:prstDash val="solid"/>
                      <a:round/>
                      <a:headEnd type="none" w="med" len="med"/>
                      <a:tailEnd type="none" w="med" len="med"/>
                    </a:lnB>
                    <a:solidFill>
                      <a:srgbClr val="F7F6FC"/>
                    </a:solidFill>
                  </a:tcPr>
                </a:tc>
                <a:tc>
                  <a:txBody>
                    <a:bodyPr/>
                    <a:lstStyle/>
                    <a:p>
                      <a:pPr marL="0" indent="0">
                        <a:lnSpc>
                          <a:spcPts val="2240"/>
                        </a:lnSpc>
                        <a:buNone/>
                      </a:pPr>
                      <a:r>
                        <a:rPr lang="en-US" sz="1600" dirty="0">
                          <a:solidFill>
                            <a:srgbClr val="06083F"/>
                          </a:solidFill>
                          <a:latin typeface="Barlow" pitchFamily="34" charset="0"/>
                          <a:ea typeface="Barlow" pitchFamily="34" charset="-122"/>
                          <a:cs typeface="Barlow" pitchFamily="34" charset="-120"/>
                        </a:rPr>
                        <a:t>Todos</a:t>
                      </a:r>
                      <a:endParaRPr lang="en-US" sz="1600" dirty="0">
                        <a:latin typeface="Barlow" charset="0"/>
                        <a:ea typeface="Barlow" charset="0"/>
                        <a:cs typeface="Barlow" charset="0"/>
                      </a:endParaRPr>
                    </a:p>
                  </a:txBody>
                  <a:tcPr marL="71120" marR="71120" marT="71120" marB="71120">
                    <a:lnL w="12700" cap="flat" cmpd="sng" algn="ctr">
                      <a:solidFill>
                        <a:srgbClr val="C5C4C9"/>
                      </a:solidFill>
                      <a:prstDash val="solid"/>
                      <a:round/>
                      <a:headEnd type="none" w="med" len="med"/>
                      <a:tailEnd type="none" w="med" len="med"/>
                    </a:lnL>
                    <a:lnR w="12700" cap="flat" cmpd="sng" algn="ctr">
                      <a:solidFill>
                        <a:srgbClr val="C5C4C9"/>
                      </a:solidFill>
                      <a:prstDash val="solid"/>
                      <a:round/>
                      <a:headEnd type="none" w="med" len="med"/>
                      <a:tailEnd type="none" w="med" len="med"/>
                    </a:lnR>
                    <a:lnT w="12700" cap="flat" cmpd="sng" algn="ctr">
                      <a:solidFill>
                        <a:srgbClr val="B98F31"/>
                      </a:solidFill>
                      <a:prstDash val="solid"/>
                      <a:round/>
                      <a:headEnd type="none" w="med" len="med"/>
                      <a:tailEnd type="none" w="med" len="med"/>
                    </a:lnT>
                    <a:lnB w="12700" cap="flat" cmpd="sng" algn="ctr">
                      <a:solidFill>
                        <a:srgbClr val="C5C4C9"/>
                      </a:solidFill>
                      <a:prstDash val="solid"/>
                      <a:round/>
                      <a:headEnd type="none" w="med" len="med"/>
                      <a:tailEnd type="none" w="med" len="med"/>
                    </a:lnB>
                    <a:solidFill>
                      <a:srgbClr val="F7F6FC"/>
                    </a:solidFill>
                  </a:tcPr>
                </a:tc>
                <a:tc>
                  <a:txBody>
                    <a:bodyPr/>
                    <a:lstStyle/>
                    <a:p>
                      <a:pPr marL="0" indent="0" algn="r">
                        <a:lnSpc>
                          <a:spcPts val="2240"/>
                        </a:lnSpc>
                        <a:buNone/>
                      </a:pPr>
                      <a:r>
                        <a:rPr lang="en-US" sz="1600" dirty="0">
                          <a:solidFill>
                            <a:srgbClr val="06083F"/>
                          </a:solidFill>
                          <a:latin typeface="Barlow" pitchFamily="34" charset="0"/>
                          <a:ea typeface="Barlow" pitchFamily="34" charset="-122"/>
                          <a:cs typeface="Barlow" pitchFamily="34" charset="-120"/>
                        </a:rPr>
                        <a:t>Libre</a:t>
                      </a:r>
                      <a:endParaRPr lang="en-US" sz="1600" dirty="0">
                        <a:latin typeface="Barlow" charset="0"/>
                        <a:ea typeface="Barlow" charset="0"/>
                        <a:cs typeface="Barlow" charset="0"/>
                      </a:endParaRPr>
                    </a:p>
                  </a:txBody>
                  <a:tcPr marL="71120" marR="71120" marT="71120" marB="71120">
                    <a:lnL w="12700" cap="flat" cmpd="sng" algn="ctr">
                      <a:solidFill>
                        <a:srgbClr val="C5C4C9"/>
                      </a:solidFill>
                      <a:prstDash val="solid"/>
                      <a:round/>
                      <a:headEnd type="none" w="med" len="med"/>
                      <a:tailEnd type="none" w="med" len="med"/>
                    </a:lnL>
                    <a:lnR w="12700" cap="flat" cmpd="sng" algn="ctr">
                      <a:solidFill>
                        <a:srgbClr val="C5C4C9"/>
                      </a:solidFill>
                      <a:prstDash val="solid"/>
                      <a:round/>
                      <a:headEnd type="none" w="med" len="med"/>
                      <a:tailEnd type="none" w="med" len="med"/>
                    </a:lnR>
                    <a:lnT w="12700" cap="flat" cmpd="sng" algn="ctr">
                      <a:solidFill>
                        <a:srgbClr val="B98F31"/>
                      </a:solidFill>
                      <a:prstDash val="solid"/>
                      <a:round/>
                      <a:headEnd type="none" w="med" len="med"/>
                      <a:tailEnd type="none" w="med" len="med"/>
                    </a:lnT>
                    <a:lnB w="12700" cap="flat" cmpd="sng" algn="ctr">
                      <a:solidFill>
                        <a:srgbClr val="C5C4C9"/>
                      </a:solidFill>
                      <a:prstDash val="solid"/>
                      <a:round/>
                      <a:headEnd type="none" w="med" len="med"/>
                      <a:tailEnd type="none" w="med" len="med"/>
                    </a:lnB>
                    <a:solidFill>
                      <a:srgbClr val="F7F6FC"/>
                    </a:solidFill>
                  </a:tcPr>
                </a:tc>
                <a:extLst>
                  <a:ext uri="{0D108BD9-81ED-4DB2-BD59-A6C34878D82A}">
                    <a16:rowId xmlns:a16="http://schemas.microsoft.com/office/drawing/2014/main" val="10006"/>
                  </a:ext>
                </a:extLst>
              </a:tr>
            </a:tbl>
          </a:graphicData>
        </a:graphic>
      </p:graphicFrame>
      <p:sp>
        <p:nvSpPr>
          <p:cNvPr id="6" name="Text 3"/>
          <p:cNvSpPr/>
          <p:nvPr/>
        </p:nvSpPr>
        <p:spPr>
          <a:xfrm>
            <a:off x="812800" y="6238239"/>
            <a:ext cx="78486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5C8C"/>
                </a:solidFill>
                <a:latin typeface="IBM Plex Mono" pitchFamily="49" charset="0"/>
                <a:ea typeface="IBM Plex Mono" pitchFamily="49" charset="-122"/>
                <a:cs typeface="IBM Plex Mono" pitchFamily="49" charset="-120"/>
              </a:rPr>
              <a:t>Antes de empezar · Capacitación IOL</a:t>
            </a:r>
            <a:endParaRPr lang="en-US" sz="1200" dirty="0"/>
          </a:p>
        </p:txBody>
      </p:sp>
      <p:sp>
        <p:nvSpPr>
          <p:cNvPr id="7" name="Text 4"/>
          <p:cNvSpPr/>
          <p:nvPr/>
        </p:nvSpPr>
        <p:spPr>
          <a:xfrm>
            <a:off x="9804400" y="6238239"/>
            <a:ext cx="1574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5C8C"/>
                </a:solidFill>
                <a:latin typeface="IBM Plex Mono" pitchFamily="49" charset="0"/>
                <a:ea typeface="IBM Plex Mono" pitchFamily="49" charset="-122"/>
                <a:cs typeface="IBM Plex Mono" pitchFamily="49" charset="-120"/>
              </a:rPr>
              <a:t>08 / 12</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6F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6439FF"/>
                </a:solidFill>
                <a:latin typeface="IBM Plex Mono" pitchFamily="49" charset="0"/>
                <a:ea typeface="IBM Plex Mono" pitchFamily="49" charset="-122"/>
                <a:cs typeface="IBM Plex Mono" pitchFamily="49" charset="-120"/>
              </a:rPr>
              <a:t>03 · CÓMO SE USA EL SIMULADOR</a:t>
            </a:r>
            <a:endParaRPr lang="en-US" sz="1200" dirty="0"/>
          </a:p>
        </p:txBody>
      </p:sp>
      <p:sp>
        <p:nvSpPr>
          <p:cNvPr id="3" name="Text 1"/>
          <p:cNvSpPr>
            <a:spLocks noGrp="1"/>
          </p:cNvSpPr>
          <p:nvPr>
            <p:ph type="title"/>
          </p:nvPr>
        </p:nvSpPr>
        <p:spPr>
          <a:xfrm>
            <a:off x="812800" y="1102361"/>
            <a:ext cx="10883392" cy="551180"/>
          </a:xfrm>
          <a:prstGeom prst="rect">
            <a:avLst/>
          </a:prstGeom>
          <a:noFill/>
          <a:ln/>
        </p:spPr>
        <p:txBody>
          <a:bodyPr wrap="square" lIns="0" tIns="0" rIns="0" bIns="0" rtlCol="0" anchor="t">
            <a:normAutofit/>
          </a:bodyPr>
          <a:lstStyle/>
          <a:p>
            <a:pPr marL="0" indent="0" algn="l">
              <a:lnSpc>
                <a:spcPts val="4140"/>
              </a:lnSpc>
              <a:buNone/>
            </a:pPr>
            <a:r>
              <a:rPr lang="en-US" sz="3600" b="1" i="0" kern="0" spc="-50" dirty="0">
                <a:solidFill>
                  <a:srgbClr val="06083F"/>
                </a:solidFill>
                <a:latin typeface="Barlow" pitchFamily="34" charset="0"/>
                <a:ea typeface="Barlow" pitchFamily="34" charset="-122"/>
                <a:cs typeface="Barlow" pitchFamily="34" charset="-120"/>
              </a:rPr>
              <a:t>La guía te va llevando de la mano</a:t>
            </a:r>
            <a:endParaRPr lang="en-US" sz="3600" dirty="0"/>
          </a:p>
        </p:txBody>
      </p:sp>
      <p:sp>
        <p:nvSpPr>
          <p:cNvPr id="4" name="Shape 2"/>
          <p:cNvSpPr/>
          <p:nvPr/>
        </p:nvSpPr>
        <p:spPr>
          <a:xfrm>
            <a:off x="812800" y="1882139"/>
            <a:ext cx="3420507" cy="2082800"/>
          </a:xfrm>
          <a:prstGeom prst="roundRect">
            <a:avLst>
              <a:gd name="adj" fmla="val 4878"/>
            </a:avLst>
          </a:prstGeom>
          <a:solidFill>
            <a:srgbClr val="EEEDF8"/>
          </a:solidFill>
          <a:ln/>
        </p:spPr>
        <p:txBody>
          <a:bodyPr/>
          <a:lstStyle/>
          <a:p>
            <a:endParaRPr lang="es-AR"/>
          </a:p>
        </p:txBody>
      </p:sp>
      <p:sp>
        <p:nvSpPr>
          <p:cNvPr id="5" name="Text 3"/>
          <p:cNvSpPr/>
          <p:nvPr/>
        </p:nvSpPr>
        <p:spPr>
          <a:xfrm>
            <a:off x="1041400" y="2242821"/>
            <a:ext cx="406400" cy="406400"/>
          </a:xfrm>
          <a:custGeom>
            <a:avLst/>
            <a:gdLst/>
            <a:ahLst/>
            <a:cxnLst/>
            <a:rect l="l" t="t" r="r" b="b"/>
            <a:pathLst>
              <a:path w="406400" h="406400">
                <a:moveTo>
                  <a:pt x="203200" y="0"/>
                </a:moveTo>
                <a:lnTo>
                  <a:pt x="203200" y="0"/>
                </a:lnTo>
                <a:arcTo wR="203200" hR="203200" stAng="16200000" swAng="5400000"/>
                <a:lnTo>
                  <a:pt x="406400" y="203200"/>
                </a:lnTo>
                <a:arcTo wR="203200" hR="203200" stAng="0" swAng="5400000"/>
                <a:lnTo>
                  <a:pt x="203200" y="406400"/>
                </a:lnTo>
                <a:arcTo wR="203200" hR="203200" stAng="5400000" swAng="5400000"/>
                <a:lnTo>
                  <a:pt x="0" y="203200"/>
                </a:lnTo>
                <a:arcTo wR="203200" hR="203200" stAng="10800000" swAng="5400000"/>
                <a:close/>
              </a:path>
            </a:pathLst>
          </a:custGeom>
          <a:solidFill>
            <a:srgbClr val="6439FF"/>
          </a:solidFill>
          <a:ln/>
        </p:spPr>
        <p:txBody>
          <a:bodyPr wrap="square" lIns="0" tIns="0" rIns="0" bIns="0" rtlCol="0" anchor="t">
            <a:normAutofit/>
          </a:bodyPr>
          <a:lstStyle/>
          <a:p>
            <a:pPr marL="0" indent="0" algn="ctr">
              <a:lnSpc>
                <a:spcPts val="3200"/>
              </a:lnSpc>
              <a:buNone/>
            </a:pPr>
            <a:r>
              <a:rPr lang="en-US" sz="1600" b="1" dirty="0">
                <a:solidFill>
                  <a:srgbClr val="F7F6FC"/>
                </a:solidFill>
                <a:latin typeface="Barlow" pitchFamily="34" charset="0"/>
                <a:ea typeface="Barlow" pitchFamily="34" charset="-122"/>
                <a:cs typeface="Barlow" pitchFamily="34" charset="-120"/>
              </a:rPr>
              <a:t>1</a:t>
            </a:r>
            <a:endParaRPr lang="en-US" sz="1600" dirty="0"/>
          </a:p>
        </p:txBody>
      </p:sp>
      <p:sp>
        <p:nvSpPr>
          <p:cNvPr id="6" name="Text 4"/>
          <p:cNvSpPr/>
          <p:nvPr/>
        </p:nvSpPr>
        <p:spPr>
          <a:xfrm>
            <a:off x="1549400" y="2110739"/>
            <a:ext cx="2528966" cy="69596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06083F"/>
                </a:solidFill>
                <a:latin typeface="Barlow" pitchFamily="34" charset="0"/>
                <a:ea typeface="Barlow" pitchFamily="34" charset="-122"/>
                <a:cs typeface="Barlow" pitchFamily="34" charset="-120"/>
              </a:rPr>
              <a:t>Te marca dónde tocar</a:t>
            </a:r>
            <a:endParaRPr lang="en-US" sz="2200" dirty="0"/>
          </a:p>
        </p:txBody>
      </p:sp>
      <p:sp>
        <p:nvSpPr>
          <p:cNvPr id="7" name="Text 5"/>
          <p:cNvSpPr/>
          <p:nvPr/>
        </p:nvSpPr>
        <p:spPr>
          <a:xfrm>
            <a:off x="1041400" y="2882900"/>
            <a:ext cx="3052206" cy="87884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A4B78"/>
                </a:solidFill>
                <a:latin typeface="Barlow" pitchFamily="34" charset="0"/>
                <a:ea typeface="Barlow" pitchFamily="34" charset="-122"/>
                <a:cs typeface="Barlow" pitchFamily="34" charset="-120"/>
              </a:rPr>
              <a:t>La pantalla se oscurece y queda iluminado el botón que tenés que tocar.</a:t>
            </a:r>
            <a:endParaRPr lang="en-US" sz="1600" dirty="0"/>
          </a:p>
        </p:txBody>
      </p:sp>
      <p:sp>
        <p:nvSpPr>
          <p:cNvPr id="8" name="Shape 6"/>
          <p:cNvSpPr/>
          <p:nvPr/>
        </p:nvSpPr>
        <p:spPr>
          <a:xfrm>
            <a:off x="4385707" y="1882139"/>
            <a:ext cx="3420586" cy="2082800"/>
          </a:xfrm>
          <a:prstGeom prst="roundRect">
            <a:avLst>
              <a:gd name="adj" fmla="val 4878"/>
            </a:avLst>
          </a:prstGeom>
          <a:solidFill>
            <a:srgbClr val="EEEDF8"/>
          </a:solidFill>
          <a:ln/>
        </p:spPr>
        <p:txBody>
          <a:bodyPr/>
          <a:lstStyle/>
          <a:p>
            <a:endParaRPr lang="es-AR"/>
          </a:p>
        </p:txBody>
      </p:sp>
      <p:sp>
        <p:nvSpPr>
          <p:cNvPr id="9" name="Text 7"/>
          <p:cNvSpPr/>
          <p:nvPr/>
        </p:nvSpPr>
        <p:spPr>
          <a:xfrm>
            <a:off x="4614307" y="2110739"/>
            <a:ext cx="406400" cy="406400"/>
          </a:xfrm>
          <a:custGeom>
            <a:avLst/>
            <a:gdLst/>
            <a:ahLst/>
            <a:cxnLst/>
            <a:rect l="l" t="t" r="r" b="b"/>
            <a:pathLst>
              <a:path w="406400" h="406400">
                <a:moveTo>
                  <a:pt x="203200" y="0"/>
                </a:moveTo>
                <a:lnTo>
                  <a:pt x="203200" y="0"/>
                </a:lnTo>
                <a:arcTo wR="203200" hR="203200" stAng="16200000" swAng="5400000"/>
                <a:lnTo>
                  <a:pt x="406400" y="203200"/>
                </a:lnTo>
                <a:arcTo wR="203200" hR="203200" stAng="0" swAng="5400000"/>
                <a:lnTo>
                  <a:pt x="203200" y="406400"/>
                </a:lnTo>
                <a:arcTo wR="203200" hR="203200" stAng="5400000" swAng="5400000"/>
                <a:lnTo>
                  <a:pt x="0" y="203200"/>
                </a:lnTo>
                <a:arcTo wR="203200" hR="203200" stAng="10800000" swAng="5400000"/>
                <a:close/>
              </a:path>
            </a:pathLst>
          </a:custGeom>
          <a:solidFill>
            <a:srgbClr val="6439FF"/>
          </a:solidFill>
          <a:ln/>
        </p:spPr>
        <p:txBody>
          <a:bodyPr wrap="square" lIns="0" tIns="0" rIns="0" bIns="0" rtlCol="0" anchor="t">
            <a:normAutofit/>
          </a:bodyPr>
          <a:lstStyle/>
          <a:p>
            <a:pPr marL="0" indent="0" algn="ctr">
              <a:lnSpc>
                <a:spcPts val="3200"/>
              </a:lnSpc>
              <a:buNone/>
            </a:pPr>
            <a:r>
              <a:rPr lang="en-US" sz="1600" b="1" dirty="0">
                <a:solidFill>
                  <a:srgbClr val="F7F6FC"/>
                </a:solidFill>
                <a:latin typeface="Barlow" pitchFamily="34" charset="0"/>
                <a:ea typeface="Barlow" pitchFamily="34" charset="-122"/>
                <a:cs typeface="Barlow" pitchFamily="34" charset="-120"/>
              </a:rPr>
              <a:t>2</a:t>
            </a:r>
            <a:endParaRPr lang="en-US" sz="1600" dirty="0"/>
          </a:p>
        </p:txBody>
      </p:sp>
      <p:sp>
        <p:nvSpPr>
          <p:cNvPr id="10" name="Text 8"/>
          <p:cNvSpPr/>
          <p:nvPr/>
        </p:nvSpPr>
        <p:spPr>
          <a:xfrm>
            <a:off x="5122307" y="2146300"/>
            <a:ext cx="2011680" cy="36068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06083F"/>
                </a:solidFill>
                <a:latin typeface="Barlow" pitchFamily="34" charset="0"/>
                <a:ea typeface="Barlow" pitchFamily="34" charset="-122"/>
                <a:cs typeface="Barlow" pitchFamily="34" charset="-120"/>
              </a:rPr>
              <a:t>Espera tu clic</a:t>
            </a:r>
            <a:endParaRPr lang="en-US" sz="2200" dirty="0"/>
          </a:p>
        </p:txBody>
      </p:sp>
      <p:sp>
        <p:nvSpPr>
          <p:cNvPr id="11" name="Text 9"/>
          <p:cNvSpPr/>
          <p:nvPr/>
        </p:nvSpPr>
        <p:spPr>
          <a:xfrm>
            <a:off x="4614307" y="2618739"/>
            <a:ext cx="3052288" cy="5943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A4B78"/>
                </a:solidFill>
                <a:latin typeface="Barlow" pitchFamily="34" charset="0"/>
                <a:ea typeface="Barlow" pitchFamily="34" charset="-122"/>
                <a:cs typeface="Barlow" pitchFamily="34" charset="-120"/>
              </a:rPr>
              <a:t>No avanza sola: el clic lo hacés vos, como en la aplicación real.</a:t>
            </a:r>
            <a:endParaRPr lang="en-US" sz="1600" dirty="0"/>
          </a:p>
        </p:txBody>
      </p:sp>
      <p:sp>
        <p:nvSpPr>
          <p:cNvPr id="12" name="Shape 10"/>
          <p:cNvSpPr/>
          <p:nvPr/>
        </p:nvSpPr>
        <p:spPr>
          <a:xfrm>
            <a:off x="7958693" y="1882139"/>
            <a:ext cx="3420507" cy="2082800"/>
          </a:xfrm>
          <a:prstGeom prst="roundRect">
            <a:avLst>
              <a:gd name="adj" fmla="val 4878"/>
            </a:avLst>
          </a:prstGeom>
          <a:solidFill>
            <a:srgbClr val="EEEDF8"/>
          </a:solidFill>
          <a:ln/>
        </p:spPr>
        <p:txBody>
          <a:bodyPr/>
          <a:lstStyle/>
          <a:p>
            <a:endParaRPr lang="es-AR"/>
          </a:p>
        </p:txBody>
      </p:sp>
      <p:sp>
        <p:nvSpPr>
          <p:cNvPr id="13" name="Text 11"/>
          <p:cNvSpPr/>
          <p:nvPr/>
        </p:nvSpPr>
        <p:spPr>
          <a:xfrm>
            <a:off x="8187293" y="2110739"/>
            <a:ext cx="406400" cy="406400"/>
          </a:xfrm>
          <a:custGeom>
            <a:avLst/>
            <a:gdLst/>
            <a:ahLst/>
            <a:cxnLst/>
            <a:rect l="l" t="t" r="r" b="b"/>
            <a:pathLst>
              <a:path w="406400" h="406400">
                <a:moveTo>
                  <a:pt x="203200" y="0"/>
                </a:moveTo>
                <a:lnTo>
                  <a:pt x="203200" y="0"/>
                </a:lnTo>
                <a:arcTo wR="203200" hR="203200" stAng="16200000" swAng="5400000"/>
                <a:lnTo>
                  <a:pt x="406400" y="203200"/>
                </a:lnTo>
                <a:arcTo wR="203200" hR="203200" stAng="0" swAng="5400000"/>
                <a:lnTo>
                  <a:pt x="203200" y="406400"/>
                </a:lnTo>
                <a:arcTo wR="203200" hR="203200" stAng="5400000" swAng="5400000"/>
                <a:lnTo>
                  <a:pt x="0" y="203200"/>
                </a:lnTo>
                <a:arcTo wR="203200" hR="203200" stAng="10800000" swAng="5400000"/>
                <a:close/>
              </a:path>
            </a:pathLst>
          </a:custGeom>
          <a:solidFill>
            <a:srgbClr val="6439FF"/>
          </a:solidFill>
          <a:ln/>
        </p:spPr>
        <p:txBody>
          <a:bodyPr wrap="square" lIns="0" tIns="0" rIns="0" bIns="0" rtlCol="0" anchor="t">
            <a:normAutofit/>
          </a:bodyPr>
          <a:lstStyle/>
          <a:p>
            <a:pPr marL="0" indent="0" algn="ctr">
              <a:lnSpc>
                <a:spcPts val="3200"/>
              </a:lnSpc>
              <a:buNone/>
            </a:pPr>
            <a:r>
              <a:rPr lang="en-US" sz="1600" b="1" dirty="0">
                <a:solidFill>
                  <a:srgbClr val="F7F6FC"/>
                </a:solidFill>
                <a:latin typeface="Barlow" pitchFamily="34" charset="0"/>
                <a:ea typeface="Barlow" pitchFamily="34" charset="-122"/>
                <a:cs typeface="Barlow" pitchFamily="34" charset="-120"/>
              </a:rPr>
              <a:t>3</a:t>
            </a:r>
            <a:endParaRPr lang="en-US" sz="1600" dirty="0"/>
          </a:p>
        </p:txBody>
      </p:sp>
      <p:sp>
        <p:nvSpPr>
          <p:cNvPr id="14" name="Text 12"/>
          <p:cNvSpPr/>
          <p:nvPr/>
        </p:nvSpPr>
        <p:spPr>
          <a:xfrm>
            <a:off x="8695293" y="2146300"/>
            <a:ext cx="2683907" cy="36068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06083F"/>
                </a:solidFill>
                <a:latin typeface="Barlow" pitchFamily="34" charset="0"/>
                <a:ea typeface="Barlow" pitchFamily="34" charset="-122"/>
                <a:cs typeface="Barlow" pitchFamily="34" charset="-120"/>
              </a:rPr>
              <a:t>Te explica qué pasó</a:t>
            </a:r>
            <a:endParaRPr lang="en-US" sz="2200" dirty="0"/>
          </a:p>
        </p:txBody>
      </p:sp>
      <p:sp>
        <p:nvSpPr>
          <p:cNvPr id="15" name="Text 13"/>
          <p:cNvSpPr/>
          <p:nvPr/>
        </p:nvSpPr>
        <p:spPr>
          <a:xfrm>
            <a:off x="8187293" y="2618739"/>
            <a:ext cx="3052206" cy="87884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A4B78"/>
                </a:solidFill>
                <a:latin typeface="Barlow" pitchFamily="34" charset="0"/>
                <a:ea typeface="Barlow" pitchFamily="34" charset="-122"/>
                <a:cs typeface="Barlow" pitchFamily="34" charset="-120"/>
              </a:rPr>
              <a:t>Si hay algo para leer, tocás «Siguiente». Podés salir cuando quieras.</a:t>
            </a:r>
            <a:endParaRPr lang="en-US" sz="1600" dirty="0"/>
          </a:p>
        </p:txBody>
      </p:sp>
      <p:sp>
        <p:nvSpPr>
          <p:cNvPr id="16" name="Shape 14"/>
          <p:cNvSpPr/>
          <p:nvPr/>
        </p:nvSpPr>
        <p:spPr>
          <a:xfrm>
            <a:off x="812800" y="4218942"/>
            <a:ext cx="10566400" cy="975360"/>
          </a:xfrm>
          <a:prstGeom prst="roundRect">
            <a:avLst>
              <a:gd name="adj" fmla="val 10417"/>
            </a:avLst>
          </a:prstGeom>
          <a:solidFill>
            <a:srgbClr val="E8B23A"/>
          </a:solidFill>
          <a:ln/>
        </p:spPr>
        <p:txBody>
          <a:bodyPr/>
          <a:lstStyle/>
          <a:p>
            <a:endParaRPr lang="es-AR"/>
          </a:p>
        </p:txBody>
      </p:sp>
      <p:sp>
        <p:nvSpPr>
          <p:cNvPr id="17" name="Text 15"/>
          <p:cNvSpPr/>
          <p:nvPr/>
        </p:nvSpPr>
        <p:spPr>
          <a:xfrm>
            <a:off x="1066800" y="4511042"/>
            <a:ext cx="2137410" cy="391160"/>
          </a:xfrm>
          <a:prstGeom prst="roundRect">
            <a:avLst>
              <a:gd name="adj" fmla="val 12987"/>
            </a:avLst>
          </a:prstGeom>
          <a:solidFill>
            <a:srgbClr val="20160A">
              <a:alpha val="15000"/>
            </a:srgbClr>
          </a:solidFill>
          <a:ln/>
        </p:spPr>
        <p:txBody>
          <a:bodyPr wrap="none" lIns="0" tIns="0" rIns="0" bIns="0" rtlCol="0" anchor="ctr">
            <a:normAutofit/>
          </a:bodyPr>
          <a:lstStyle/>
          <a:p>
            <a:pPr marL="0" indent="0" algn="ctr">
              <a:lnSpc>
                <a:spcPts val="1680"/>
              </a:lnSpc>
              <a:buNone/>
            </a:pPr>
            <a:r>
              <a:rPr lang="en-US" sz="1200" b="1" kern="0" spc="50" dirty="0">
                <a:solidFill>
                  <a:srgbClr val="20160A"/>
                </a:solidFill>
                <a:latin typeface="IBM Plex Mono" pitchFamily="49" charset="0"/>
                <a:ea typeface="IBM Plex Mono" pitchFamily="49" charset="-122"/>
                <a:cs typeface="IBM Plex Mono" pitchFamily="49" charset="-120"/>
              </a:rPr>
              <a:t>AVANZAR 1 DÍA HÁBIL</a:t>
            </a:r>
            <a:endParaRPr lang="en-US" sz="1200" dirty="0"/>
          </a:p>
        </p:txBody>
      </p:sp>
      <p:sp>
        <p:nvSpPr>
          <p:cNvPr id="18" name="Text 16"/>
          <p:cNvSpPr/>
          <p:nvPr/>
        </p:nvSpPr>
        <p:spPr>
          <a:xfrm>
            <a:off x="3407410" y="4422142"/>
            <a:ext cx="7949324" cy="5943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20160A"/>
                </a:solidFill>
                <a:latin typeface="Barlow" pitchFamily="34" charset="0"/>
                <a:ea typeface="Barlow" pitchFamily="34" charset="-122"/>
                <a:cs typeface="Barlow" pitchFamily="34" charset="-120"/>
              </a:rPr>
              <a:t>Lo que vendés se cobra al día hábil siguiente. Acá no tenés que esperar: tocás este botón de la franja amarilla y el reloj avanza un día.</a:t>
            </a:r>
            <a:endParaRPr lang="en-US" sz="1600" dirty="0"/>
          </a:p>
        </p:txBody>
      </p:sp>
      <p:sp>
        <p:nvSpPr>
          <p:cNvPr id="19" name="Text 17"/>
          <p:cNvSpPr/>
          <p:nvPr/>
        </p:nvSpPr>
        <p:spPr>
          <a:xfrm>
            <a:off x="812800" y="6238242"/>
            <a:ext cx="78486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5C8C"/>
                </a:solidFill>
                <a:latin typeface="IBM Plex Mono" pitchFamily="49" charset="0"/>
                <a:ea typeface="IBM Plex Mono" pitchFamily="49" charset="-122"/>
                <a:cs typeface="IBM Plex Mono" pitchFamily="49" charset="-120"/>
              </a:rPr>
              <a:t>Antes de empezar · Capacitación IOL</a:t>
            </a:r>
            <a:endParaRPr lang="en-US" sz="1200" dirty="0"/>
          </a:p>
        </p:txBody>
      </p:sp>
      <p:sp>
        <p:nvSpPr>
          <p:cNvPr id="20" name="Text 18"/>
          <p:cNvSpPr/>
          <p:nvPr/>
        </p:nvSpPr>
        <p:spPr>
          <a:xfrm>
            <a:off x="9804400" y="6238242"/>
            <a:ext cx="1574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5C8C"/>
                </a:solidFill>
                <a:latin typeface="IBM Plex Mono" pitchFamily="49" charset="0"/>
                <a:ea typeface="IBM Plex Mono" pitchFamily="49" charset="-122"/>
                <a:cs typeface="IBM Plex Mono" pitchFamily="49" charset="-120"/>
              </a:rPr>
              <a:t>09 / 12</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EED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6439FF"/>
                </a:solidFill>
                <a:latin typeface="IBM Plex Mono" pitchFamily="49" charset="0"/>
                <a:ea typeface="IBM Plex Mono" pitchFamily="49" charset="-122"/>
                <a:cs typeface="IBM Plex Mono" pitchFamily="49" charset="-120"/>
              </a:rPr>
              <a:t>03 · CÓMO SE USA EL SIMULADOR</a:t>
            </a:r>
            <a:endParaRPr lang="en-US" sz="1200" dirty="0"/>
          </a:p>
        </p:txBody>
      </p:sp>
      <p:sp>
        <p:nvSpPr>
          <p:cNvPr id="3" name="Text 1"/>
          <p:cNvSpPr>
            <a:spLocks noGrp="1"/>
          </p:cNvSpPr>
          <p:nvPr>
            <p:ph type="title"/>
          </p:nvPr>
        </p:nvSpPr>
        <p:spPr>
          <a:xfrm>
            <a:off x="812800" y="1102364"/>
            <a:ext cx="10883392" cy="551180"/>
          </a:xfrm>
          <a:prstGeom prst="rect">
            <a:avLst/>
          </a:prstGeom>
          <a:noFill/>
          <a:ln/>
        </p:spPr>
        <p:txBody>
          <a:bodyPr wrap="square" lIns="0" tIns="0" rIns="0" bIns="0" rtlCol="0" anchor="t">
            <a:normAutofit/>
          </a:bodyPr>
          <a:lstStyle/>
          <a:p>
            <a:pPr marL="0" indent="0" algn="l">
              <a:lnSpc>
                <a:spcPts val="4140"/>
              </a:lnSpc>
              <a:buNone/>
            </a:pPr>
            <a:r>
              <a:rPr lang="en-US" sz="3600" b="1" i="0" kern="0" spc="-50" dirty="0">
                <a:solidFill>
                  <a:srgbClr val="06083F"/>
                </a:solidFill>
                <a:latin typeface="Barlow" pitchFamily="34" charset="0"/>
                <a:ea typeface="Barlow" pitchFamily="34" charset="-122"/>
                <a:cs typeface="Barlow" pitchFamily="34" charset="-120"/>
              </a:rPr>
              <a:t>Algunos errores son a propósito</a:t>
            </a:r>
            <a:endParaRPr lang="en-US" sz="3600" dirty="0"/>
          </a:p>
        </p:txBody>
      </p:sp>
      <p:sp>
        <p:nvSpPr>
          <p:cNvPr id="4" name="Text 2"/>
          <p:cNvSpPr/>
          <p:nvPr/>
        </p:nvSpPr>
        <p:spPr>
          <a:xfrm>
            <a:off x="812800" y="1882142"/>
            <a:ext cx="10883392" cy="3098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A4B78"/>
                </a:solidFill>
                <a:latin typeface="Barlow" pitchFamily="34" charset="0"/>
                <a:ea typeface="Barlow" pitchFamily="34" charset="-122"/>
                <a:cs typeface="Barlow" pitchFamily="34" charset="-120"/>
              </a:rPr>
              <a:t>Equivocarte acá no cuesta nada, y es la mejor forma de aprender las reglas.</a:t>
            </a:r>
            <a:endParaRPr lang="en-US" sz="16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2960" y="2430781"/>
          <a:ext cx="10556240" cy="2184400"/>
        </p:xfrm>
        <a:graphic>
          <a:graphicData uri="http://schemas.openxmlformats.org/drawingml/2006/table">
            <a:tbl>
              <a:tblPr/>
              <a:tblGrid>
                <a:gridCol w="5278120">
                  <a:extLst>
                    <a:ext uri="{9D8B030D-6E8A-4147-A177-3AD203B41FA5}">
                      <a16:colId xmlns:a16="http://schemas.microsoft.com/office/drawing/2014/main" val="20000"/>
                    </a:ext>
                  </a:extLst>
                </a:gridCol>
                <a:gridCol w="5278120">
                  <a:extLst>
                    <a:ext uri="{9D8B030D-6E8A-4147-A177-3AD203B41FA5}">
                      <a16:colId xmlns:a16="http://schemas.microsoft.com/office/drawing/2014/main" val="20001"/>
                    </a:ext>
                  </a:extLst>
                </a:gridCol>
              </a:tblGrid>
              <a:tr h="436880">
                <a:tc>
                  <a:txBody>
                    <a:bodyPr/>
                    <a:lstStyle/>
                    <a:p>
                      <a:pPr marL="0" indent="0">
                        <a:lnSpc>
                          <a:spcPts val="2240"/>
                        </a:lnSpc>
                        <a:buNone/>
                      </a:pPr>
                      <a:r>
                        <a:rPr lang="en-US" sz="1600" b="1" dirty="0">
                          <a:solidFill>
                            <a:srgbClr val="06083F"/>
                          </a:solidFill>
                          <a:latin typeface="Barlow" pitchFamily="34" charset="0"/>
                          <a:ea typeface="Barlow" pitchFamily="34" charset="-122"/>
                          <a:cs typeface="Barlow" pitchFamily="34" charset="-120"/>
                        </a:rPr>
                        <a:t>Lo que vas a intentar</a:t>
                      </a:r>
                      <a:endParaRPr lang="en-US" sz="1600" dirty="0">
                        <a:latin typeface="Barlow" charset="0"/>
                        <a:ea typeface="Barlow" charset="0"/>
                        <a:cs typeface="Barlow" charset="0"/>
                      </a:endParaRPr>
                    </a:p>
                  </a:txBody>
                  <a:tcPr marL="71120" marR="71120" marT="71120" marB="71120">
                    <a:lnL w="12700" cap="flat" cmpd="sng" algn="ctr">
                      <a:solidFill>
                        <a:srgbClr val="BEBDC6"/>
                      </a:solidFill>
                      <a:prstDash val="solid"/>
                      <a:round/>
                      <a:headEnd type="none" w="med" len="med"/>
                      <a:tailEnd type="none" w="med" len="med"/>
                    </a:lnL>
                    <a:lnR w="12700" cap="flat" cmpd="sng" algn="ctr">
                      <a:solidFill>
                        <a:srgbClr val="ACAABC"/>
                      </a:solidFill>
                      <a:prstDash val="solid"/>
                      <a:round/>
                      <a:headEnd type="none" w="med" len="med"/>
                      <a:tailEnd type="none" w="med" len="med"/>
                    </a:lnR>
                    <a:lnT w="12700" cap="flat" cmpd="sng" algn="ctr">
                      <a:solidFill>
                        <a:srgbClr val="BEBDC6"/>
                      </a:solidFill>
                      <a:prstDash val="solid"/>
                      <a:round/>
                      <a:headEnd type="none" w="med" len="med"/>
                      <a:tailEnd type="none" w="med" len="med"/>
                    </a:lnT>
                    <a:lnB w="12700" cap="flat" cmpd="sng" algn="ctr">
                      <a:solidFill>
                        <a:srgbClr val="ACAABC"/>
                      </a:solidFill>
                      <a:prstDash val="solid"/>
                      <a:round/>
                      <a:headEnd type="none" w="med" len="med"/>
                      <a:tailEnd type="none" w="med" len="med"/>
                    </a:lnB>
                    <a:solidFill>
                      <a:srgbClr val="D7D4EC"/>
                    </a:solidFill>
                  </a:tcPr>
                </a:tc>
                <a:tc>
                  <a:txBody>
                    <a:bodyPr/>
                    <a:lstStyle/>
                    <a:p>
                      <a:pPr marL="0" indent="0">
                        <a:lnSpc>
                          <a:spcPts val="2240"/>
                        </a:lnSpc>
                        <a:buNone/>
                      </a:pPr>
                      <a:r>
                        <a:rPr lang="en-US" sz="1600" b="1" dirty="0">
                          <a:solidFill>
                            <a:srgbClr val="06083F"/>
                          </a:solidFill>
                          <a:latin typeface="Barlow" pitchFamily="34" charset="0"/>
                          <a:ea typeface="Barlow" pitchFamily="34" charset="-122"/>
                          <a:cs typeface="Barlow" pitchFamily="34" charset="-120"/>
                        </a:rPr>
                        <a:t>Lo que vas a aprender</a:t>
                      </a:r>
                      <a:endParaRPr lang="en-US" sz="1600" dirty="0">
                        <a:latin typeface="Barlow" charset="0"/>
                        <a:ea typeface="Barlow" charset="0"/>
                        <a:cs typeface="Barlow" charset="0"/>
                      </a:endParaRPr>
                    </a:p>
                  </a:txBody>
                  <a:tcPr marL="71120" marR="71120" marT="71120" marB="71120">
                    <a:lnL w="12700" cap="flat" cmpd="sng" algn="ctr">
                      <a:solidFill>
                        <a:srgbClr val="ACAABC"/>
                      </a:solidFill>
                      <a:prstDash val="solid"/>
                      <a:round/>
                      <a:headEnd type="none" w="med" len="med"/>
                      <a:tailEnd type="none" w="med" len="med"/>
                    </a:lnL>
                    <a:lnR w="12700" cap="flat" cmpd="sng" algn="ctr">
                      <a:solidFill>
                        <a:srgbClr val="ACAABC"/>
                      </a:solidFill>
                      <a:prstDash val="solid"/>
                      <a:round/>
                      <a:headEnd type="none" w="med" len="med"/>
                      <a:tailEnd type="none" w="med" len="med"/>
                    </a:lnR>
                    <a:lnT w="12700" cap="flat" cmpd="sng" algn="ctr">
                      <a:solidFill>
                        <a:srgbClr val="BEBDC6"/>
                      </a:solidFill>
                      <a:prstDash val="solid"/>
                      <a:round/>
                      <a:headEnd type="none" w="med" len="med"/>
                      <a:tailEnd type="none" w="med" len="med"/>
                    </a:lnT>
                    <a:lnB w="12700" cap="flat" cmpd="sng" algn="ctr">
                      <a:solidFill>
                        <a:srgbClr val="ACAABC"/>
                      </a:solidFill>
                      <a:prstDash val="solid"/>
                      <a:round/>
                      <a:headEnd type="none" w="med" len="med"/>
                      <a:tailEnd type="none" w="med" len="med"/>
                    </a:lnB>
                    <a:solidFill>
                      <a:srgbClr val="D7D4EC"/>
                    </a:solidFill>
                  </a:tcPr>
                </a:tc>
                <a:extLst>
                  <a:ext uri="{0D108BD9-81ED-4DB2-BD59-A6C34878D82A}">
                    <a16:rowId xmlns:a16="http://schemas.microsoft.com/office/drawing/2014/main" val="10000"/>
                  </a:ext>
                </a:extLst>
              </a:tr>
              <a:tr h="436880">
                <a:tc>
                  <a:txBody>
                    <a:bodyPr/>
                    <a:lstStyle/>
                    <a:p>
                      <a:pPr marL="0" indent="0">
                        <a:lnSpc>
                          <a:spcPts val="2240"/>
                        </a:lnSpc>
                        <a:buNone/>
                      </a:pPr>
                      <a:r>
                        <a:rPr lang="en-US" sz="1600" dirty="0">
                          <a:solidFill>
                            <a:srgbClr val="06083F"/>
                          </a:solidFill>
                          <a:latin typeface="Barlow" pitchFamily="34" charset="0"/>
                          <a:ea typeface="Barlow" pitchFamily="34" charset="-122"/>
                          <a:cs typeface="Barlow" pitchFamily="34" charset="-120"/>
                        </a:rPr>
                        <a:t>Ingresar plata desde la cuenta de otro</a:t>
                      </a:r>
                      <a:endParaRPr lang="en-US" sz="1600" dirty="0">
                        <a:latin typeface="Barlow" charset="0"/>
                        <a:ea typeface="Barlow" charset="0"/>
                        <a:cs typeface="Barlow" charset="0"/>
                      </a:endParaRPr>
                    </a:p>
                  </a:txBody>
                  <a:tcPr marL="71120" marR="71120" marT="71120" marB="71120">
                    <a:lnL w="12700" cap="flat" cmpd="sng" algn="ctr">
                      <a:solidFill>
                        <a:srgbClr val="BEBDC6"/>
                      </a:solidFill>
                      <a:prstDash val="solid"/>
                      <a:round/>
                      <a:headEnd type="none" w="med" len="med"/>
                      <a:tailEnd type="none" w="med" len="med"/>
                    </a:lnL>
                    <a:lnR w="12700" cap="flat" cmpd="sng" algn="ctr">
                      <a:solidFill>
                        <a:srgbClr val="C5C4C9"/>
                      </a:solidFill>
                      <a:prstDash val="solid"/>
                      <a:round/>
                      <a:headEnd type="none" w="med" len="med"/>
                      <a:tailEnd type="none" w="med" len="med"/>
                    </a:lnR>
                    <a:lnT w="12700" cap="flat" cmpd="sng" algn="ctr">
                      <a:solidFill>
                        <a:srgbClr val="ACAABC"/>
                      </a:solidFill>
                      <a:prstDash val="solid"/>
                      <a:round/>
                      <a:headEnd type="none" w="med" len="med"/>
                      <a:tailEnd type="none" w="med" len="med"/>
                    </a:lnT>
                    <a:lnB w="12700" cap="flat" cmpd="sng" algn="ctr">
                      <a:solidFill>
                        <a:srgbClr val="C5C4C9"/>
                      </a:solidFill>
                      <a:prstDash val="solid"/>
                      <a:round/>
                      <a:headEnd type="none" w="med" len="med"/>
                      <a:tailEnd type="none" w="med" len="med"/>
                    </a:lnB>
                    <a:solidFill>
                      <a:srgbClr val="F7F6FC"/>
                    </a:solidFill>
                  </a:tcPr>
                </a:tc>
                <a:tc>
                  <a:txBody>
                    <a:bodyPr/>
                    <a:lstStyle/>
                    <a:p>
                      <a:pPr marL="0" indent="0">
                        <a:lnSpc>
                          <a:spcPts val="2240"/>
                        </a:lnSpc>
                        <a:buNone/>
                      </a:pPr>
                      <a:r>
                        <a:rPr lang="en-US" sz="1600" dirty="0">
                          <a:solidFill>
                            <a:srgbClr val="06083F"/>
                          </a:solidFill>
                          <a:latin typeface="Barlow" pitchFamily="34" charset="0"/>
                          <a:ea typeface="Barlow" pitchFamily="34" charset="-122"/>
                          <a:cs typeface="Barlow" pitchFamily="34" charset="-120"/>
                        </a:rPr>
                        <a:t>Solo se opera con cuentas a tu nombre</a:t>
                      </a:r>
                      <a:endParaRPr lang="en-US" sz="1600" dirty="0">
                        <a:latin typeface="Barlow" charset="0"/>
                        <a:ea typeface="Barlow" charset="0"/>
                        <a:cs typeface="Barlow" charset="0"/>
                      </a:endParaRPr>
                    </a:p>
                  </a:txBody>
                  <a:tcPr marL="71120" marR="71120" marT="71120" marB="71120">
                    <a:lnL w="12700" cap="flat" cmpd="sng" algn="ctr">
                      <a:solidFill>
                        <a:srgbClr val="C5C4C9"/>
                      </a:solidFill>
                      <a:prstDash val="solid"/>
                      <a:round/>
                      <a:headEnd type="none" w="med" len="med"/>
                      <a:tailEnd type="none" w="med" len="med"/>
                    </a:lnL>
                    <a:lnR w="12700" cap="flat" cmpd="sng" algn="ctr">
                      <a:solidFill>
                        <a:srgbClr val="C5C4C9"/>
                      </a:solidFill>
                      <a:prstDash val="solid"/>
                      <a:round/>
                      <a:headEnd type="none" w="med" len="med"/>
                      <a:tailEnd type="none" w="med" len="med"/>
                    </a:lnR>
                    <a:lnT w="12700" cap="flat" cmpd="sng" algn="ctr">
                      <a:solidFill>
                        <a:srgbClr val="ACAABC"/>
                      </a:solidFill>
                      <a:prstDash val="solid"/>
                      <a:round/>
                      <a:headEnd type="none" w="med" len="med"/>
                      <a:tailEnd type="none" w="med" len="med"/>
                    </a:lnT>
                    <a:lnB w="12700" cap="flat" cmpd="sng" algn="ctr">
                      <a:solidFill>
                        <a:srgbClr val="C5C4C9"/>
                      </a:solidFill>
                      <a:prstDash val="solid"/>
                      <a:round/>
                      <a:headEnd type="none" w="med" len="med"/>
                      <a:tailEnd type="none" w="med" len="med"/>
                    </a:lnB>
                    <a:solidFill>
                      <a:srgbClr val="F7F6FC"/>
                    </a:solidFill>
                  </a:tcPr>
                </a:tc>
                <a:extLst>
                  <a:ext uri="{0D108BD9-81ED-4DB2-BD59-A6C34878D82A}">
                    <a16:rowId xmlns:a16="http://schemas.microsoft.com/office/drawing/2014/main" val="10001"/>
                  </a:ext>
                </a:extLst>
              </a:tr>
              <a:tr h="436880">
                <a:tc>
                  <a:txBody>
                    <a:bodyPr/>
                    <a:lstStyle/>
                    <a:p>
                      <a:pPr marL="0" indent="0">
                        <a:lnSpc>
                          <a:spcPts val="2240"/>
                        </a:lnSpc>
                        <a:buNone/>
                      </a:pPr>
                      <a:r>
                        <a:rPr lang="en-US" sz="1600" dirty="0">
                          <a:solidFill>
                            <a:srgbClr val="06083F"/>
                          </a:solidFill>
                          <a:latin typeface="Barlow" pitchFamily="34" charset="0"/>
                          <a:ea typeface="Barlow" pitchFamily="34" charset="-122"/>
                          <a:cs typeface="Barlow" pitchFamily="34" charset="-120"/>
                        </a:rPr>
                        <a:t>Comprar fuera de la lámina mínima</a:t>
                      </a:r>
                      <a:endParaRPr lang="en-US" sz="1600" dirty="0">
                        <a:latin typeface="Barlow" charset="0"/>
                        <a:ea typeface="Barlow" charset="0"/>
                        <a:cs typeface="Barlow" charset="0"/>
                      </a:endParaRPr>
                    </a:p>
                  </a:txBody>
                  <a:tcPr marL="71120" marR="71120" marT="71120" marB="71120">
                    <a:lnL w="12700" cap="flat" cmpd="sng" algn="ctr">
                      <a:solidFill>
                        <a:srgbClr val="BEBDC6"/>
                      </a:solidFill>
                      <a:prstDash val="solid"/>
                      <a:round/>
                      <a:headEnd type="none" w="med" len="med"/>
                      <a:tailEnd type="none" w="med" len="med"/>
                    </a:lnL>
                    <a:lnR w="12700" cap="flat" cmpd="sng" algn="ctr">
                      <a:solidFill>
                        <a:srgbClr val="C5C4C9"/>
                      </a:solidFill>
                      <a:prstDash val="solid"/>
                      <a:round/>
                      <a:headEnd type="none" w="med" len="med"/>
                      <a:tailEnd type="none" w="med" len="med"/>
                    </a:lnR>
                    <a:lnT w="12700" cap="flat" cmpd="sng" algn="ctr">
                      <a:solidFill>
                        <a:srgbClr val="C5C4C9"/>
                      </a:solidFill>
                      <a:prstDash val="solid"/>
                      <a:round/>
                      <a:headEnd type="none" w="med" len="med"/>
                      <a:tailEnd type="none" w="med" len="med"/>
                    </a:lnT>
                    <a:lnB w="12700" cap="flat" cmpd="sng" algn="ctr">
                      <a:solidFill>
                        <a:srgbClr val="C5C4C9"/>
                      </a:solidFill>
                      <a:prstDash val="solid"/>
                      <a:round/>
                      <a:headEnd type="none" w="med" len="med"/>
                      <a:tailEnd type="none" w="med" len="med"/>
                    </a:lnB>
                    <a:solidFill>
                      <a:srgbClr val="F7F6FC"/>
                    </a:solidFill>
                  </a:tcPr>
                </a:tc>
                <a:tc>
                  <a:txBody>
                    <a:bodyPr/>
                    <a:lstStyle/>
                    <a:p>
                      <a:pPr marL="0" indent="0">
                        <a:lnSpc>
                          <a:spcPts val="2240"/>
                        </a:lnSpc>
                        <a:buNone/>
                      </a:pPr>
                      <a:r>
                        <a:rPr lang="en-US" sz="1600" dirty="0">
                          <a:solidFill>
                            <a:srgbClr val="06083F"/>
                          </a:solidFill>
                          <a:latin typeface="Barlow" pitchFamily="34" charset="0"/>
                          <a:ea typeface="Barlow" pitchFamily="34" charset="-122"/>
                          <a:cs typeface="Barlow" pitchFamily="34" charset="-120"/>
                        </a:rPr>
                        <a:t>La orden se rechaza y la corregís</a:t>
                      </a:r>
                      <a:endParaRPr lang="en-US" sz="1600" dirty="0">
                        <a:latin typeface="Barlow" charset="0"/>
                        <a:ea typeface="Barlow" charset="0"/>
                        <a:cs typeface="Barlow" charset="0"/>
                      </a:endParaRPr>
                    </a:p>
                  </a:txBody>
                  <a:tcPr marL="71120" marR="71120" marT="71120" marB="71120">
                    <a:lnL w="12700" cap="flat" cmpd="sng" algn="ctr">
                      <a:solidFill>
                        <a:srgbClr val="C5C4C9"/>
                      </a:solidFill>
                      <a:prstDash val="solid"/>
                      <a:round/>
                      <a:headEnd type="none" w="med" len="med"/>
                      <a:tailEnd type="none" w="med" len="med"/>
                    </a:lnL>
                    <a:lnR w="12700" cap="flat" cmpd="sng" algn="ctr">
                      <a:solidFill>
                        <a:srgbClr val="C5C4C9"/>
                      </a:solidFill>
                      <a:prstDash val="solid"/>
                      <a:round/>
                      <a:headEnd type="none" w="med" len="med"/>
                      <a:tailEnd type="none" w="med" len="med"/>
                    </a:lnR>
                    <a:lnT w="12700" cap="flat" cmpd="sng" algn="ctr">
                      <a:solidFill>
                        <a:srgbClr val="C5C4C9"/>
                      </a:solidFill>
                      <a:prstDash val="solid"/>
                      <a:round/>
                      <a:headEnd type="none" w="med" len="med"/>
                      <a:tailEnd type="none" w="med" len="med"/>
                    </a:lnT>
                    <a:lnB w="12700" cap="flat" cmpd="sng" algn="ctr">
                      <a:solidFill>
                        <a:srgbClr val="C5C4C9"/>
                      </a:solidFill>
                      <a:prstDash val="solid"/>
                      <a:round/>
                      <a:headEnd type="none" w="med" len="med"/>
                      <a:tailEnd type="none" w="med" len="med"/>
                    </a:lnB>
                    <a:solidFill>
                      <a:srgbClr val="F7F6FC"/>
                    </a:solidFill>
                  </a:tcPr>
                </a:tc>
                <a:extLst>
                  <a:ext uri="{0D108BD9-81ED-4DB2-BD59-A6C34878D82A}">
                    <a16:rowId xmlns:a16="http://schemas.microsoft.com/office/drawing/2014/main" val="10002"/>
                  </a:ext>
                </a:extLst>
              </a:tr>
              <a:tr h="436880">
                <a:tc>
                  <a:txBody>
                    <a:bodyPr/>
                    <a:lstStyle/>
                    <a:p>
                      <a:pPr marL="0" indent="0">
                        <a:lnSpc>
                          <a:spcPts val="2240"/>
                        </a:lnSpc>
                        <a:buNone/>
                      </a:pPr>
                      <a:r>
                        <a:rPr lang="en-US" sz="1600" dirty="0">
                          <a:solidFill>
                            <a:srgbClr val="06083F"/>
                          </a:solidFill>
                          <a:latin typeface="Barlow" pitchFamily="34" charset="0"/>
                          <a:ea typeface="Barlow" pitchFamily="34" charset="-122"/>
                          <a:cs typeface="Barlow" pitchFamily="34" charset="-120"/>
                        </a:rPr>
                        <a:t>Poner un precio que nadie acepta</a:t>
                      </a:r>
                      <a:endParaRPr lang="en-US" sz="1600" dirty="0">
                        <a:latin typeface="Barlow" charset="0"/>
                        <a:ea typeface="Barlow" charset="0"/>
                        <a:cs typeface="Barlow" charset="0"/>
                      </a:endParaRPr>
                    </a:p>
                  </a:txBody>
                  <a:tcPr marL="71120" marR="71120" marT="71120" marB="71120">
                    <a:lnL w="12700" cap="flat" cmpd="sng" algn="ctr">
                      <a:solidFill>
                        <a:srgbClr val="BEBDC6"/>
                      </a:solidFill>
                      <a:prstDash val="solid"/>
                      <a:round/>
                      <a:headEnd type="none" w="med" len="med"/>
                      <a:tailEnd type="none" w="med" len="med"/>
                    </a:lnL>
                    <a:lnR w="12700" cap="flat" cmpd="sng" algn="ctr">
                      <a:solidFill>
                        <a:srgbClr val="C5C4C9"/>
                      </a:solidFill>
                      <a:prstDash val="solid"/>
                      <a:round/>
                      <a:headEnd type="none" w="med" len="med"/>
                      <a:tailEnd type="none" w="med" len="med"/>
                    </a:lnR>
                    <a:lnT w="12700" cap="flat" cmpd="sng" algn="ctr">
                      <a:solidFill>
                        <a:srgbClr val="C5C4C9"/>
                      </a:solidFill>
                      <a:prstDash val="solid"/>
                      <a:round/>
                      <a:headEnd type="none" w="med" len="med"/>
                      <a:tailEnd type="none" w="med" len="med"/>
                    </a:lnT>
                    <a:lnB w="12700" cap="flat" cmpd="sng" algn="ctr">
                      <a:solidFill>
                        <a:srgbClr val="C5C4C9"/>
                      </a:solidFill>
                      <a:prstDash val="solid"/>
                      <a:round/>
                      <a:headEnd type="none" w="med" len="med"/>
                      <a:tailEnd type="none" w="med" len="med"/>
                    </a:lnB>
                    <a:solidFill>
                      <a:srgbClr val="F7F6FC"/>
                    </a:solidFill>
                  </a:tcPr>
                </a:tc>
                <a:tc>
                  <a:txBody>
                    <a:bodyPr/>
                    <a:lstStyle/>
                    <a:p>
                      <a:pPr marL="0" indent="0">
                        <a:lnSpc>
                          <a:spcPts val="2240"/>
                        </a:lnSpc>
                        <a:buNone/>
                      </a:pPr>
                      <a:r>
                        <a:rPr lang="en-US" sz="1600" dirty="0">
                          <a:solidFill>
                            <a:srgbClr val="06083F"/>
                          </a:solidFill>
                          <a:latin typeface="Barlow" pitchFamily="34" charset="0"/>
                          <a:ea typeface="Barlow" pitchFamily="34" charset="-122"/>
                          <a:cs typeface="Barlow" pitchFamily="34" charset="-120"/>
                        </a:rPr>
                        <a:t>La orden queda esperando sin ejecutarse</a:t>
                      </a:r>
                      <a:endParaRPr lang="en-US" sz="1600" dirty="0">
                        <a:latin typeface="Barlow" charset="0"/>
                        <a:ea typeface="Barlow" charset="0"/>
                        <a:cs typeface="Barlow" charset="0"/>
                      </a:endParaRPr>
                    </a:p>
                  </a:txBody>
                  <a:tcPr marL="71120" marR="71120" marT="71120" marB="71120">
                    <a:lnL w="12700" cap="flat" cmpd="sng" algn="ctr">
                      <a:solidFill>
                        <a:srgbClr val="C5C4C9"/>
                      </a:solidFill>
                      <a:prstDash val="solid"/>
                      <a:round/>
                      <a:headEnd type="none" w="med" len="med"/>
                      <a:tailEnd type="none" w="med" len="med"/>
                    </a:lnL>
                    <a:lnR w="12700" cap="flat" cmpd="sng" algn="ctr">
                      <a:solidFill>
                        <a:srgbClr val="C5C4C9"/>
                      </a:solidFill>
                      <a:prstDash val="solid"/>
                      <a:round/>
                      <a:headEnd type="none" w="med" len="med"/>
                      <a:tailEnd type="none" w="med" len="med"/>
                    </a:lnR>
                    <a:lnT w="12700" cap="flat" cmpd="sng" algn="ctr">
                      <a:solidFill>
                        <a:srgbClr val="C5C4C9"/>
                      </a:solidFill>
                      <a:prstDash val="solid"/>
                      <a:round/>
                      <a:headEnd type="none" w="med" len="med"/>
                      <a:tailEnd type="none" w="med" len="med"/>
                    </a:lnT>
                    <a:lnB w="12700" cap="flat" cmpd="sng" algn="ctr">
                      <a:solidFill>
                        <a:srgbClr val="C5C4C9"/>
                      </a:solidFill>
                      <a:prstDash val="solid"/>
                      <a:round/>
                      <a:headEnd type="none" w="med" len="med"/>
                      <a:tailEnd type="none" w="med" len="med"/>
                    </a:lnB>
                    <a:solidFill>
                      <a:srgbClr val="F7F6FC"/>
                    </a:solidFill>
                  </a:tcPr>
                </a:tc>
                <a:extLst>
                  <a:ext uri="{0D108BD9-81ED-4DB2-BD59-A6C34878D82A}">
                    <a16:rowId xmlns:a16="http://schemas.microsoft.com/office/drawing/2014/main" val="10003"/>
                  </a:ext>
                </a:extLst>
              </a:tr>
              <a:tr h="436880">
                <a:tc>
                  <a:txBody>
                    <a:bodyPr/>
                    <a:lstStyle/>
                    <a:p>
                      <a:pPr marL="0" indent="0">
                        <a:lnSpc>
                          <a:spcPts val="2240"/>
                        </a:lnSpc>
                        <a:buNone/>
                      </a:pPr>
                      <a:r>
                        <a:rPr lang="en-US" sz="1600" dirty="0">
                          <a:solidFill>
                            <a:srgbClr val="06083F"/>
                          </a:solidFill>
                          <a:latin typeface="Barlow" pitchFamily="34" charset="0"/>
                          <a:ea typeface="Barlow" pitchFamily="34" charset="-122"/>
                          <a:cs typeface="Barlow" pitchFamily="34" charset="-120"/>
                        </a:rPr>
                        <a:t>Retirar lo que vendiste hoy</a:t>
                      </a:r>
                      <a:endParaRPr lang="en-US" sz="1600" dirty="0">
                        <a:latin typeface="Barlow" charset="0"/>
                        <a:ea typeface="Barlow" charset="0"/>
                        <a:cs typeface="Barlow" charset="0"/>
                      </a:endParaRPr>
                    </a:p>
                  </a:txBody>
                  <a:tcPr marL="71120" marR="71120" marT="71120" marB="71120">
                    <a:lnL w="12700" cap="flat" cmpd="sng" algn="ctr">
                      <a:solidFill>
                        <a:srgbClr val="BEBDC6"/>
                      </a:solidFill>
                      <a:prstDash val="solid"/>
                      <a:round/>
                      <a:headEnd type="none" w="med" len="med"/>
                      <a:tailEnd type="none" w="med" len="med"/>
                    </a:lnL>
                    <a:lnR w="12700" cap="flat" cmpd="sng" algn="ctr">
                      <a:solidFill>
                        <a:srgbClr val="C5C4C9"/>
                      </a:solidFill>
                      <a:prstDash val="solid"/>
                      <a:round/>
                      <a:headEnd type="none" w="med" len="med"/>
                      <a:tailEnd type="none" w="med" len="med"/>
                    </a:lnR>
                    <a:lnT w="12700" cap="flat" cmpd="sng" algn="ctr">
                      <a:solidFill>
                        <a:srgbClr val="C5C4C9"/>
                      </a:solidFill>
                      <a:prstDash val="solid"/>
                      <a:round/>
                      <a:headEnd type="none" w="med" len="med"/>
                      <a:tailEnd type="none" w="med" len="med"/>
                    </a:lnT>
                    <a:lnB w="12700" cap="flat" cmpd="sng" algn="ctr">
                      <a:solidFill>
                        <a:srgbClr val="C5C4C9"/>
                      </a:solidFill>
                      <a:prstDash val="solid"/>
                      <a:round/>
                      <a:headEnd type="none" w="med" len="med"/>
                      <a:tailEnd type="none" w="med" len="med"/>
                    </a:lnB>
                    <a:solidFill>
                      <a:srgbClr val="F7F6FC"/>
                    </a:solidFill>
                  </a:tcPr>
                </a:tc>
                <a:tc>
                  <a:txBody>
                    <a:bodyPr/>
                    <a:lstStyle/>
                    <a:p>
                      <a:pPr marL="0" indent="0">
                        <a:lnSpc>
                          <a:spcPts val="2240"/>
                        </a:lnSpc>
                        <a:buNone/>
                      </a:pPr>
                      <a:r>
                        <a:rPr lang="en-US" sz="1600" dirty="0">
                          <a:solidFill>
                            <a:srgbClr val="06083F"/>
                          </a:solidFill>
                          <a:latin typeface="Barlow" pitchFamily="34" charset="0"/>
                          <a:ea typeface="Barlow" pitchFamily="34" charset="-122"/>
                          <a:cs typeface="Barlow" pitchFamily="34" charset="-120"/>
                        </a:rPr>
                        <a:t>Primero tiene que liquidar: un día hábil</a:t>
                      </a:r>
                      <a:endParaRPr lang="en-US" sz="1600" dirty="0">
                        <a:latin typeface="Barlow" charset="0"/>
                        <a:ea typeface="Barlow" charset="0"/>
                        <a:cs typeface="Barlow" charset="0"/>
                      </a:endParaRPr>
                    </a:p>
                  </a:txBody>
                  <a:tcPr marL="71120" marR="71120" marT="71120" marB="71120">
                    <a:lnL w="12700" cap="flat" cmpd="sng" algn="ctr">
                      <a:solidFill>
                        <a:srgbClr val="C5C4C9"/>
                      </a:solidFill>
                      <a:prstDash val="solid"/>
                      <a:round/>
                      <a:headEnd type="none" w="med" len="med"/>
                      <a:tailEnd type="none" w="med" len="med"/>
                    </a:lnL>
                    <a:lnR w="12700" cap="flat" cmpd="sng" algn="ctr">
                      <a:solidFill>
                        <a:srgbClr val="C5C4C9"/>
                      </a:solidFill>
                      <a:prstDash val="solid"/>
                      <a:round/>
                      <a:headEnd type="none" w="med" len="med"/>
                      <a:tailEnd type="none" w="med" len="med"/>
                    </a:lnR>
                    <a:lnT w="12700" cap="flat" cmpd="sng" algn="ctr">
                      <a:solidFill>
                        <a:srgbClr val="C5C4C9"/>
                      </a:solidFill>
                      <a:prstDash val="solid"/>
                      <a:round/>
                      <a:headEnd type="none" w="med" len="med"/>
                      <a:tailEnd type="none" w="med" len="med"/>
                    </a:lnT>
                    <a:lnB w="12700" cap="flat" cmpd="sng" algn="ctr">
                      <a:solidFill>
                        <a:srgbClr val="C5C4C9"/>
                      </a:solidFill>
                      <a:prstDash val="solid"/>
                      <a:round/>
                      <a:headEnd type="none" w="med" len="med"/>
                      <a:tailEnd type="none" w="med" len="med"/>
                    </a:lnB>
                    <a:solidFill>
                      <a:srgbClr val="F7F6FC"/>
                    </a:solidFill>
                  </a:tcPr>
                </a:tc>
                <a:extLst>
                  <a:ext uri="{0D108BD9-81ED-4DB2-BD59-A6C34878D82A}">
                    <a16:rowId xmlns:a16="http://schemas.microsoft.com/office/drawing/2014/main" val="10004"/>
                  </a:ext>
                </a:extLst>
              </a:tr>
            </a:tbl>
          </a:graphicData>
        </a:graphic>
      </p:graphicFrame>
      <p:sp>
        <p:nvSpPr>
          <p:cNvPr id="6" name="Text 3"/>
          <p:cNvSpPr/>
          <p:nvPr/>
        </p:nvSpPr>
        <p:spPr>
          <a:xfrm>
            <a:off x="812800" y="4869179"/>
            <a:ext cx="10566400" cy="487680"/>
          </a:xfrm>
          <a:prstGeom prst="roundRect">
            <a:avLst>
              <a:gd name="adj" fmla="val 10417"/>
            </a:avLst>
          </a:prstGeom>
          <a:solidFill>
            <a:srgbClr val="F7F6FC"/>
          </a:solidFill>
          <a:ln/>
        </p:spPr>
        <p:txBody>
          <a:bodyPr wrap="square" lIns="213721" tIns="86721" rIns="0" bIns="61321" rtlCol="0" anchor="t">
            <a:normAutofit/>
          </a:bodyPr>
          <a:lstStyle/>
          <a:p>
            <a:pPr marL="0" indent="0" algn="l">
              <a:lnSpc>
                <a:spcPts val="2240"/>
              </a:lnSpc>
              <a:buNone/>
            </a:pPr>
            <a:r>
              <a:rPr lang="en-US" sz="1600" dirty="0">
                <a:solidFill>
                  <a:srgbClr val="06083F"/>
                </a:solidFill>
                <a:latin typeface="Barlow" pitchFamily="34" charset="0"/>
                <a:ea typeface="Barlow" pitchFamily="34" charset="-122"/>
                <a:cs typeface="Barlow" pitchFamily="34" charset="-120"/>
              </a:rPr>
              <a:t>La guía te avisa antes: </a:t>
            </a:r>
            <a:r>
              <a:rPr lang="en-US" sz="1600" b="1" dirty="0">
                <a:solidFill>
                  <a:srgbClr val="06083F"/>
                </a:solidFill>
                <a:latin typeface="Barlow" pitchFamily="34" charset="0"/>
                <a:ea typeface="Barlow" pitchFamily="34" charset="-122"/>
                <a:cs typeface="Barlow" pitchFamily="34" charset="-120"/>
              </a:rPr>
              <a:t>«Probá algo que va a fallar».</a:t>
            </a:r>
            <a:endParaRPr lang="en-US" sz="1600" dirty="0"/>
          </a:p>
        </p:txBody>
      </p:sp>
      <p:sp>
        <p:nvSpPr>
          <p:cNvPr id="7" name="Shape 4"/>
          <p:cNvSpPr/>
          <p:nvPr/>
        </p:nvSpPr>
        <p:spPr>
          <a:xfrm>
            <a:off x="812800" y="4869179"/>
            <a:ext cx="10566400" cy="487680"/>
          </a:xfrm>
          <a:custGeom>
            <a:avLst/>
            <a:gdLst/>
            <a:ahLst/>
            <a:cxnLst/>
            <a:rect l="l" t="t" r="r" b="b"/>
            <a:pathLst>
              <a:path w="10566400" h="487680">
                <a:moveTo>
                  <a:pt x="50800" y="487680"/>
                </a:moveTo>
                <a:lnTo>
                  <a:pt x="50800" y="487680"/>
                </a:lnTo>
                <a:arcTo wR="50800" hR="50800" stAng="5400000" swAng="5400000"/>
                <a:lnTo>
                  <a:pt x="0" y="50800"/>
                </a:lnTo>
                <a:arcTo wR="50800" hR="50800" stAng="10800000" swAng="5400000"/>
                <a:lnTo>
                  <a:pt x="50800" y="0"/>
                </a:lnTo>
                <a:lnTo>
                  <a:pt x="50800" y="487680"/>
                </a:lnTo>
                <a:close/>
              </a:path>
            </a:pathLst>
          </a:custGeom>
          <a:solidFill>
            <a:srgbClr val="E8B23A"/>
          </a:solidFill>
          <a:ln/>
        </p:spPr>
        <p:txBody>
          <a:bodyPr/>
          <a:lstStyle/>
          <a:p>
            <a:endParaRPr lang="es-AR"/>
          </a:p>
        </p:txBody>
      </p:sp>
      <p:sp>
        <p:nvSpPr>
          <p:cNvPr id="8" name="Text 5"/>
          <p:cNvSpPr/>
          <p:nvPr/>
        </p:nvSpPr>
        <p:spPr>
          <a:xfrm>
            <a:off x="812800" y="6238242"/>
            <a:ext cx="78486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5C8C"/>
                </a:solidFill>
                <a:latin typeface="IBM Plex Mono" pitchFamily="49" charset="0"/>
                <a:ea typeface="IBM Plex Mono" pitchFamily="49" charset="-122"/>
                <a:cs typeface="IBM Plex Mono" pitchFamily="49" charset="-120"/>
              </a:rPr>
              <a:t>Antes de empezar · Capacitación IOL</a:t>
            </a:r>
            <a:endParaRPr lang="en-US" sz="1200" dirty="0"/>
          </a:p>
        </p:txBody>
      </p:sp>
      <p:sp>
        <p:nvSpPr>
          <p:cNvPr id="9" name="Text 6"/>
          <p:cNvSpPr/>
          <p:nvPr/>
        </p:nvSpPr>
        <p:spPr>
          <a:xfrm>
            <a:off x="9804400" y="6238242"/>
            <a:ext cx="1574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5C8C"/>
                </a:solidFill>
                <a:latin typeface="IBM Plex Mono" pitchFamily="49" charset="0"/>
                <a:ea typeface="IBM Plex Mono" pitchFamily="49" charset="-122"/>
                <a:cs typeface="IBM Plex Mono" pitchFamily="49" charset="-120"/>
              </a:rPr>
              <a:t>10 / 12</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6F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6439FF"/>
                </a:solidFill>
                <a:latin typeface="IBM Plex Mono" pitchFamily="49" charset="0"/>
                <a:ea typeface="IBM Plex Mono" pitchFamily="49" charset="-122"/>
                <a:cs typeface="IBM Plex Mono" pitchFamily="49" charset="-120"/>
              </a:rPr>
              <a:t>03 · CÓMO SE USA EL SIMULADOR</a:t>
            </a:r>
            <a:endParaRPr lang="en-US" sz="1200" dirty="0"/>
          </a:p>
        </p:txBody>
      </p:sp>
      <p:sp>
        <p:nvSpPr>
          <p:cNvPr id="3" name="Text 1"/>
          <p:cNvSpPr>
            <a:spLocks noGrp="1"/>
          </p:cNvSpPr>
          <p:nvPr>
            <p:ph type="title"/>
          </p:nvPr>
        </p:nvSpPr>
        <p:spPr>
          <a:xfrm>
            <a:off x="812800" y="1102364"/>
            <a:ext cx="10883392" cy="551180"/>
          </a:xfrm>
          <a:prstGeom prst="rect">
            <a:avLst/>
          </a:prstGeom>
          <a:noFill/>
          <a:ln/>
        </p:spPr>
        <p:txBody>
          <a:bodyPr wrap="square" lIns="0" tIns="0" rIns="0" bIns="0" rtlCol="0" anchor="t">
            <a:normAutofit/>
          </a:bodyPr>
          <a:lstStyle/>
          <a:p>
            <a:pPr marL="0" indent="0" algn="l">
              <a:lnSpc>
                <a:spcPts val="4140"/>
              </a:lnSpc>
              <a:buNone/>
            </a:pPr>
            <a:r>
              <a:rPr lang="en-US" sz="3600" b="1" i="0" kern="0" spc="-50" dirty="0">
                <a:solidFill>
                  <a:srgbClr val="06083F"/>
                </a:solidFill>
                <a:latin typeface="Barlow" pitchFamily="34" charset="0"/>
                <a:ea typeface="Barlow" pitchFamily="34" charset="-122"/>
                <a:cs typeface="Barlow" pitchFamily="34" charset="-120"/>
              </a:rPr>
              <a:t>Además del simulador</a:t>
            </a:r>
            <a:endParaRPr lang="en-US" sz="3600" dirty="0"/>
          </a:p>
        </p:txBody>
      </p:sp>
      <p:sp>
        <p:nvSpPr>
          <p:cNvPr id="4" name="Shape 2"/>
          <p:cNvSpPr/>
          <p:nvPr/>
        </p:nvSpPr>
        <p:spPr>
          <a:xfrm>
            <a:off x="812800" y="1882142"/>
            <a:ext cx="3420507" cy="2545080"/>
          </a:xfrm>
          <a:prstGeom prst="roundRect">
            <a:avLst>
              <a:gd name="adj" fmla="val 3992"/>
            </a:avLst>
          </a:prstGeom>
          <a:solidFill>
            <a:srgbClr val="EEEDF8"/>
          </a:solidFill>
          <a:ln/>
        </p:spPr>
        <p:txBody>
          <a:bodyPr/>
          <a:lstStyle/>
          <a:p>
            <a:endParaRPr lang="es-AR"/>
          </a:p>
        </p:txBody>
      </p:sp>
      <p:pic>
        <p:nvPicPr>
          <p:cNvPr id="5" name="Image 0" descr="Play"/>
          <p:cNvPicPr>
            <a:picLocks noChangeAspect="1"/>
          </p:cNvPicPr>
          <p:nvPr/>
        </p:nvPicPr>
        <p:blipFill>
          <a:blip r:embed="rId3"/>
          <a:srcRect/>
          <a:stretch/>
        </p:blipFill>
        <p:spPr>
          <a:xfrm>
            <a:off x="1066800" y="2136142"/>
            <a:ext cx="355600" cy="355600"/>
          </a:xfrm>
          <a:prstGeom prst="rect">
            <a:avLst/>
          </a:prstGeom>
        </p:spPr>
      </p:pic>
      <p:sp>
        <p:nvSpPr>
          <p:cNvPr id="6" name="Text 3"/>
          <p:cNvSpPr/>
          <p:nvPr/>
        </p:nvSpPr>
        <p:spPr>
          <a:xfrm>
            <a:off x="1066800" y="2567942"/>
            <a:ext cx="299988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6439FF"/>
                </a:solidFill>
                <a:latin typeface="IBM Plex Mono" pitchFamily="49" charset="0"/>
                <a:ea typeface="IBM Plex Mono" pitchFamily="49" charset="-122"/>
                <a:cs typeface="IBM Plex Mono" pitchFamily="49" charset="-120"/>
              </a:rPr>
              <a:t>VIDEO</a:t>
            </a:r>
            <a:endParaRPr lang="en-US" sz="1200" dirty="0"/>
          </a:p>
        </p:txBody>
      </p:sp>
      <p:sp>
        <p:nvSpPr>
          <p:cNvPr id="7" name="Text 4"/>
          <p:cNvSpPr/>
          <p:nvPr/>
        </p:nvSpPr>
        <p:spPr>
          <a:xfrm>
            <a:off x="1066800" y="2857500"/>
            <a:ext cx="2999882" cy="36068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06083F"/>
                </a:solidFill>
                <a:latin typeface="Barlow" pitchFamily="34" charset="0"/>
                <a:ea typeface="Barlow" pitchFamily="34" charset="-122"/>
                <a:cs typeface="Barlow" pitchFamily="34" charset="-120"/>
              </a:rPr>
              <a:t>Mirá cómo se hace</a:t>
            </a:r>
            <a:endParaRPr lang="en-US" sz="2200" dirty="0"/>
          </a:p>
        </p:txBody>
      </p:sp>
      <p:sp>
        <p:nvSpPr>
          <p:cNvPr id="8" name="Text 5"/>
          <p:cNvSpPr/>
          <p:nvPr/>
        </p:nvSpPr>
        <p:spPr>
          <a:xfrm>
            <a:off x="1066800" y="3268979"/>
            <a:ext cx="2999882" cy="87884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A4B78"/>
                </a:solidFill>
                <a:latin typeface="Barlow" pitchFamily="34" charset="0"/>
                <a:ea typeface="Barlow" pitchFamily="34" charset="-122"/>
                <a:cs typeface="Barlow" pitchFamily="34" charset="-120"/>
              </a:rPr>
              <a:t>Un itinerario grabado y narrado: vender, esperar la liquidación y retirar.</a:t>
            </a:r>
            <a:endParaRPr lang="en-US" sz="1600" dirty="0"/>
          </a:p>
        </p:txBody>
      </p:sp>
      <p:sp>
        <p:nvSpPr>
          <p:cNvPr id="9" name="Shape 6"/>
          <p:cNvSpPr/>
          <p:nvPr/>
        </p:nvSpPr>
        <p:spPr>
          <a:xfrm>
            <a:off x="4385707" y="1882142"/>
            <a:ext cx="3420586" cy="2545080"/>
          </a:xfrm>
          <a:prstGeom prst="roundRect">
            <a:avLst>
              <a:gd name="adj" fmla="val 3992"/>
            </a:avLst>
          </a:prstGeom>
          <a:solidFill>
            <a:srgbClr val="EEEDF8"/>
          </a:solidFill>
          <a:ln/>
        </p:spPr>
        <p:txBody>
          <a:bodyPr/>
          <a:lstStyle/>
          <a:p>
            <a:endParaRPr lang="es-AR"/>
          </a:p>
        </p:txBody>
      </p:sp>
      <p:pic>
        <p:nvPicPr>
          <p:cNvPr id="10" name="Image 1" descr="Book"/>
          <p:cNvPicPr>
            <a:picLocks noChangeAspect="1"/>
          </p:cNvPicPr>
          <p:nvPr/>
        </p:nvPicPr>
        <p:blipFill>
          <a:blip r:embed="rId4"/>
          <a:srcRect/>
          <a:stretch/>
        </p:blipFill>
        <p:spPr>
          <a:xfrm>
            <a:off x="4639707" y="2136142"/>
            <a:ext cx="355600" cy="355600"/>
          </a:xfrm>
          <a:prstGeom prst="rect">
            <a:avLst/>
          </a:prstGeom>
        </p:spPr>
      </p:pic>
      <p:sp>
        <p:nvSpPr>
          <p:cNvPr id="11" name="Text 7"/>
          <p:cNvSpPr/>
          <p:nvPr/>
        </p:nvSpPr>
        <p:spPr>
          <a:xfrm>
            <a:off x="4639707" y="2567942"/>
            <a:ext cx="2999964"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6439FF"/>
                </a:solidFill>
                <a:latin typeface="IBM Plex Mono" pitchFamily="49" charset="0"/>
                <a:ea typeface="IBM Plex Mono" pitchFamily="49" charset="-122"/>
                <a:cs typeface="IBM Plex Mono" pitchFamily="49" charset="-120"/>
              </a:rPr>
              <a:t>INFOGRAFÍA</a:t>
            </a:r>
            <a:endParaRPr lang="en-US" sz="1200" dirty="0"/>
          </a:p>
        </p:txBody>
      </p:sp>
      <p:sp>
        <p:nvSpPr>
          <p:cNvPr id="12" name="Text 8"/>
          <p:cNvSpPr/>
          <p:nvPr/>
        </p:nvSpPr>
        <p:spPr>
          <a:xfrm>
            <a:off x="4639707" y="2857500"/>
            <a:ext cx="2999964" cy="36068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06083F"/>
                </a:solidFill>
                <a:latin typeface="Barlow" pitchFamily="34" charset="0"/>
                <a:ea typeface="Barlow" pitchFamily="34" charset="-122"/>
                <a:cs typeface="Barlow" pitchFamily="34" charset="-120"/>
              </a:rPr>
              <a:t>El ciclo en una página</a:t>
            </a:r>
            <a:endParaRPr lang="en-US" sz="2200" dirty="0"/>
          </a:p>
        </p:txBody>
      </p:sp>
      <p:sp>
        <p:nvSpPr>
          <p:cNvPr id="13" name="Text 9"/>
          <p:cNvSpPr/>
          <p:nvPr/>
        </p:nvSpPr>
        <p:spPr>
          <a:xfrm>
            <a:off x="4639707" y="3268979"/>
            <a:ext cx="2999964" cy="5943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A4B78"/>
                </a:solidFill>
                <a:latin typeface="Barlow" pitchFamily="34" charset="0"/>
                <a:ea typeface="Barlow" pitchFamily="34" charset="-122"/>
                <a:cs typeface="Barlow" pitchFamily="34" charset="-120"/>
              </a:rPr>
              <a:t>Para imprimir y tener al lado mientras practicás.</a:t>
            </a:r>
            <a:endParaRPr lang="en-US" sz="1600" dirty="0"/>
          </a:p>
        </p:txBody>
      </p:sp>
      <p:sp>
        <p:nvSpPr>
          <p:cNvPr id="14" name="Shape 10"/>
          <p:cNvSpPr/>
          <p:nvPr/>
        </p:nvSpPr>
        <p:spPr>
          <a:xfrm>
            <a:off x="7949362" y="1882142"/>
            <a:ext cx="3420507" cy="2545080"/>
          </a:xfrm>
          <a:prstGeom prst="roundRect">
            <a:avLst>
              <a:gd name="adj" fmla="val 3992"/>
            </a:avLst>
          </a:prstGeom>
          <a:solidFill>
            <a:srgbClr val="EEEDF8"/>
          </a:solidFill>
          <a:ln/>
        </p:spPr>
        <p:txBody>
          <a:bodyPr/>
          <a:lstStyle/>
          <a:p>
            <a:endParaRPr lang="es-AR"/>
          </a:p>
        </p:txBody>
      </p:sp>
      <p:pic>
        <p:nvPicPr>
          <p:cNvPr id="15" name="Image 2" descr="Chat"/>
          <p:cNvPicPr>
            <a:picLocks noChangeAspect="1"/>
          </p:cNvPicPr>
          <p:nvPr/>
        </p:nvPicPr>
        <p:blipFill>
          <a:blip r:embed="rId5"/>
          <a:srcRect/>
          <a:stretch/>
        </p:blipFill>
        <p:spPr>
          <a:xfrm>
            <a:off x="8212693" y="2136142"/>
            <a:ext cx="355600" cy="355600"/>
          </a:xfrm>
          <a:prstGeom prst="rect">
            <a:avLst/>
          </a:prstGeom>
        </p:spPr>
      </p:pic>
      <p:sp>
        <p:nvSpPr>
          <p:cNvPr id="16" name="Text 11"/>
          <p:cNvSpPr/>
          <p:nvPr/>
        </p:nvSpPr>
        <p:spPr>
          <a:xfrm>
            <a:off x="8212693" y="2567942"/>
            <a:ext cx="299988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6439FF"/>
                </a:solidFill>
                <a:latin typeface="IBM Plex Mono" pitchFamily="49" charset="0"/>
                <a:ea typeface="IBM Plex Mono" pitchFamily="49" charset="-122"/>
                <a:cs typeface="IBM Plex Mono" pitchFamily="49" charset="-120"/>
              </a:rPr>
              <a:t>PODCAST</a:t>
            </a:r>
            <a:endParaRPr lang="en-US" sz="1200" dirty="0"/>
          </a:p>
        </p:txBody>
      </p:sp>
      <p:sp>
        <p:nvSpPr>
          <p:cNvPr id="17" name="Text 12"/>
          <p:cNvSpPr/>
          <p:nvPr/>
        </p:nvSpPr>
        <p:spPr>
          <a:xfrm>
            <a:off x="8212693" y="2857500"/>
            <a:ext cx="2999882" cy="69596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06083F"/>
                </a:solidFill>
                <a:latin typeface="Barlow" pitchFamily="34" charset="0"/>
                <a:ea typeface="Barlow" pitchFamily="34" charset="-122"/>
                <a:cs typeface="Barlow" pitchFamily="34" charset="-120"/>
              </a:rPr>
              <a:t>¿Es seguro mandar mi plata ahí?</a:t>
            </a:r>
            <a:endParaRPr lang="en-US" sz="2200" dirty="0"/>
          </a:p>
        </p:txBody>
      </p:sp>
      <p:sp>
        <p:nvSpPr>
          <p:cNvPr id="18" name="Text 13"/>
          <p:cNvSpPr/>
          <p:nvPr/>
        </p:nvSpPr>
        <p:spPr>
          <a:xfrm>
            <a:off x="8212693" y="3604264"/>
            <a:ext cx="2999882" cy="5943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A4B78"/>
                </a:solidFill>
                <a:latin typeface="Barlow" pitchFamily="34" charset="0"/>
                <a:ea typeface="Barlow" pitchFamily="34" charset="-122"/>
                <a:cs typeface="Barlow" pitchFamily="34" charset="-120"/>
              </a:rPr>
              <a:t>Una charla corta para escuchar cuando quieras, sin pantalla.</a:t>
            </a:r>
            <a:endParaRPr lang="en-US" sz="1600" dirty="0"/>
          </a:p>
        </p:txBody>
      </p:sp>
      <p:sp>
        <p:nvSpPr>
          <p:cNvPr id="19" name="Shape 14"/>
          <p:cNvSpPr/>
          <p:nvPr/>
        </p:nvSpPr>
        <p:spPr>
          <a:xfrm>
            <a:off x="812800" y="4681221"/>
            <a:ext cx="10566400" cy="640080"/>
          </a:xfrm>
          <a:prstGeom prst="roundRect">
            <a:avLst>
              <a:gd name="adj" fmla="val 15873"/>
            </a:avLst>
          </a:prstGeom>
          <a:solidFill>
            <a:srgbClr val="06083F"/>
          </a:solidFill>
          <a:ln/>
        </p:spPr>
        <p:txBody>
          <a:bodyPr/>
          <a:lstStyle/>
          <a:p>
            <a:endParaRPr lang="es-AR"/>
          </a:p>
        </p:txBody>
      </p:sp>
      <p:pic>
        <p:nvPicPr>
          <p:cNvPr id="20" name="Image 3" descr="Star"/>
          <p:cNvPicPr>
            <a:picLocks noChangeAspect="1"/>
          </p:cNvPicPr>
          <p:nvPr/>
        </p:nvPicPr>
        <p:blipFill>
          <a:blip r:embed="rId6"/>
          <a:srcRect/>
          <a:stretch/>
        </p:blipFill>
        <p:spPr>
          <a:xfrm>
            <a:off x="1066800" y="4861564"/>
            <a:ext cx="279400" cy="279400"/>
          </a:xfrm>
          <a:prstGeom prst="rect">
            <a:avLst/>
          </a:prstGeom>
        </p:spPr>
      </p:pic>
      <p:sp>
        <p:nvSpPr>
          <p:cNvPr id="21" name="Text 15"/>
          <p:cNvSpPr/>
          <p:nvPr/>
        </p:nvSpPr>
        <p:spPr>
          <a:xfrm>
            <a:off x="1473200" y="4859021"/>
            <a:ext cx="9941560" cy="3098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7F6FC"/>
                </a:solidFill>
                <a:latin typeface="Barlow" pitchFamily="34" charset="0"/>
                <a:ea typeface="Barlow" pitchFamily="34" charset="-122"/>
                <a:cs typeface="Barlow" pitchFamily="34" charset="-120"/>
              </a:rPr>
              <a:t>Al terminar cada sección, puntuala del 1 al 10: nos ayuda a mejorarla.</a:t>
            </a:r>
            <a:endParaRPr lang="en-US" sz="1600" dirty="0"/>
          </a:p>
        </p:txBody>
      </p:sp>
      <p:sp>
        <p:nvSpPr>
          <p:cNvPr id="22" name="Text 16"/>
          <p:cNvSpPr/>
          <p:nvPr/>
        </p:nvSpPr>
        <p:spPr>
          <a:xfrm>
            <a:off x="812800" y="6238242"/>
            <a:ext cx="78486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5C8C"/>
                </a:solidFill>
                <a:latin typeface="IBM Plex Mono" pitchFamily="49" charset="0"/>
                <a:ea typeface="IBM Plex Mono" pitchFamily="49" charset="-122"/>
                <a:cs typeface="IBM Plex Mono" pitchFamily="49" charset="-120"/>
              </a:rPr>
              <a:t>Antes de empezar · Capacitación IOL</a:t>
            </a:r>
            <a:endParaRPr lang="en-US" sz="1200" dirty="0"/>
          </a:p>
        </p:txBody>
      </p:sp>
      <p:sp>
        <p:nvSpPr>
          <p:cNvPr id="23" name="Text 17"/>
          <p:cNvSpPr/>
          <p:nvPr/>
        </p:nvSpPr>
        <p:spPr>
          <a:xfrm>
            <a:off x="9804400" y="6238242"/>
            <a:ext cx="1574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5C8C"/>
                </a:solidFill>
                <a:latin typeface="IBM Plex Mono" pitchFamily="49" charset="0"/>
                <a:ea typeface="IBM Plex Mono" pitchFamily="49" charset="-122"/>
                <a:cs typeface="IBM Plex Mono" pitchFamily="49" charset="-120"/>
              </a:rPr>
              <a:t>11 / 12</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6083F"/>
        </a:solidFill>
        <a:effectLst/>
      </p:bgPr>
    </p:bg>
    <p:spTree>
      <p:nvGrpSpPr>
        <p:cNvPr id="1" name=""/>
        <p:cNvGrpSpPr/>
        <p:nvPr/>
      </p:nvGrpSpPr>
      <p:grpSpPr>
        <a:xfrm>
          <a:off x="0" y="0"/>
          <a:ext cx="0" cy="0"/>
          <a:chOff x="0" y="0"/>
          <a:chExt cx="0" cy="0"/>
        </a:xfrm>
      </p:grpSpPr>
      <p:sp>
        <p:nvSpPr>
          <p:cNvPr id="2" name="Shape 0"/>
          <p:cNvSpPr/>
          <p:nvPr/>
        </p:nvSpPr>
        <p:spPr>
          <a:xfrm>
            <a:off x="0" y="0"/>
            <a:ext cx="12192000" cy="457200"/>
          </a:xfrm>
          <a:prstGeom prst="rect">
            <a:avLst/>
          </a:prstGeom>
          <a:solidFill>
            <a:srgbClr val="E8B23A"/>
          </a:solidFill>
          <a:ln/>
        </p:spPr>
        <p:txBody>
          <a:bodyPr/>
          <a:lstStyle/>
          <a:p>
            <a:endParaRPr lang="es-AR"/>
          </a:p>
        </p:txBody>
      </p:sp>
      <p:sp>
        <p:nvSpPr>
          <p:cNvPr id="3" name="Text 1"/>
          <p:cNvSpPr/>
          <p:nvPr/>
        </p:nvSpPr>
        <p:spPr>
          <a:xfrm>
            <a:off x="812800" y="1143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0160A"/>
                </a:solidFill>
                <a:latin typeface="IBM Plex Mono" pitchFamily="49" charset="0"/>
                <a:ea typeface="IBM Plex Mono" pitchFamily="49" charset="-122"/>
                <a:cs typeface="IBM Plex Mono" pitchFamily="49" charset="-120"/>
              </a:rPr>
              <a:t>MODO CAPACITACIÓN · DINERO Y PRECIOS FICTICIOS</a:t>
            </a:r>
            <a:endParaRPr lang="en-US" sz="1200" dirty="0"/>
          </a:p>
        </p:txBody>
      </p:sp>
      <p:pic>
        <p:nvPicPr>
          <p:cNvPr id="4" name="Image 0" descr="Un círculo con seis puntos: las seis etapas del ciclo de una inversión"/>
          <p:cNvPicPr>
            <a:picLocks noChangeAspect="1"/>
          </p:cNvPicPr>
          <p:nvPr/>
        </p:nvPicPr>
        <p:blipFill>
          <a:blip r:embed="rId3"/>
          <a:srcRect/>
          <a:stretch/>
        </p:blipFill>
        <p:spPr>
          <a:xfrm>
            <a:off x="8331200" y="1905000"/>
            <a:ext cx="3048000" cy="3048000"/>
          </a:xfrm>
          <a:prstGeom prst="rect">
            <a:avLst/>
          </a:prstGeom>
        </p:spPr>
      </p:pic>
      <p:sp>
        <p:nvSpPr>
          <p:cNvPr id="5" name="Text 2"/>
          <p:cNvSpPr/>
          <p:nvPr/>
        </p:nvSpPr>
        <p:spPr>
          <a:xfrm>
            <a:off x="812800" y="1678942"/>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895FF"/>
                </a:solidFill>
                <a:latin typeface="IBM Plex Mono" pitchFamily="49" charset="0"/>
                <a:ea typeface="IBM Plex Mono" pitchFamily="49" charset="-122"/>
                <a:cs typeface="IBM Plex Mono" pitchFamily="49" charset="-120"/>
              </a:rPr>
              <a:t>LISTO PARA EMPEZAR</a:t>
            </a:r>
            <a:endParaRPr lang="en-US" sz="1200" dirty="0"/>
          </a:p>
        </p:txBody>
      </p:sp>
      <p:sp>
        <p:nvSpPr>
          <p:cNvPr id="6" name="Text 3"/>
          <p:cNvSpPr>
            <a:spLocks noGrp="1"/>
          </p:cNvSpPr>
          <p:nvPr>
            <p:ph type="title"/>
          </p:nvPr>
        </p:nvSpPr>
        <p:spPr>
          <a:xfrm>
            <a:off x="812800" y="2095500"/>
            <a:ext cx="10883392" cy="825500"/>
          </a:xfrm>
          <a:prstGeom prst="rect">
            <a:avLst/>
          </a:prstGeom>
          <a:noFill/>
          <a:ln/>
        </p:spPr>
        <p:txBody>
          <a:bodyPr wrap="square" lIns="0" tIns="0" rIns="0" bIns="0" rtlCol="0" anchor="t">
            <a:normAutofit/>
          </a:bodyPr>
          <a:lstStyle/>
          <a:p>
            <a:pPr marL="0" indent="0" algn="l">
              <a:lnSpc>
                <a:spcPts val="6300"/>
              </a:lnSpc>
              <a:buNone/>
            </a:pPr>
            <a:r>
              <a:rPr lang="en-US" sz="6000" b="1" i="0" kern="0" spc="-150" dirty="0">
                <a:solidFill>
                  <a:srgbClr val="F7F6FC"/>
                </a:solidFill>
                <a:latin typeface="Barlow" pitchFamily="34" charset="0"/>
                <a:ea typeface="Barlow" pitchFamily="34" charset="-122"/>
                <a:cs typeface="Barlow" pitchFamily="34" charset="-120"/>
              </a:rPr>
              <a:t>¿Arrancamos?</a:t>
            </a:r>
            <a:endParaRPr lang="en-US" sz="6000" dirty="0"/>
          </a:p>
        </p:txBody>
      </p:sp>
      <p:sp>
        <p:nvSpPr>
          <p:cNvPr id="7" name="Text 4"/>
          <p:cNvSpPr/>
          <p:nvPr/>
        </p:nvSpPr>
        <p:spPr>
          <a:xfrm>
            <a:off x="812800" y="3098800"/>
            <a:ext cx="7194550" cy="388620"/>
          </a:xfrm>
          <a:prstGeom prst="rect">
            <a:avLst/>
          </a:prstGeom>
          <a:noFill/>
          <a:ln/>
        </p:spPr>
        <p:txBody>
          <a:bodyPr wrap="square" lIns="0" tIns="0" rIns="0" bIns="0" rtlCol="0" anchor="t">
            <a:normAutofit/>
          </a:bodyPr>
          <a:lstStyle/>
          <a:p>
            <a:pPr marL="0" indent="0" algn="l">
              <a:lnSpc>
                <a:spcPts val="2860"/>
              </a:lnSpc>
              <a:buNone/>
            </a:pPr>
            <a:r>
              <a:rPr lang="en-US" sz="2200" dirty="0">
                <a:solidFill>
                  <a:srgbClr val="B9B4E0"/>
                </a:solidFill>
                <a:latin typeface="Barlow" pitchFamily="34" charset="0"/>
                <a:ea typeface="Barlow" pitchFamily="34" charset="-122"/>
                <a:cs typeface="Barlow" pitchFamily="34" charset="-120"/>
              </a:rPr>
              <a:t>Hacé clic en «Iniciar capacitación» y elegí tu itinerario.</a:t>
            </a:r>
            <a:endParaRPr lang="en-US" sz="2200" dirty="0"/>
          </a:p>
        </p:txBody>
      </p:sp>
      <p:sp>
        <p:nvSpPr>
          <p:cNvPr id="8" name="Text 5"/>
          <p:cNvSpPr/>
          <p:nvPr/>
        </p:nvSpPr>
        <p:spPr>
          <a:xfrm>
            <a:off x="812800" y="3665221"/>
            <a:ext cx="2365296" cy="538480"/>
          </a:xfrm>
          <a:prstGeom prst="roundRect">
            <a:avLst>
              <a:gd name="adj" fmla="val 11792"/>
            </a:avLst>
          </a:prstGeom>
          <a:solidFill>
            <a:srgbClr val="6439FF"/>
          </a:solidFill>
          <a:ln/>
        </p:spPr>
        <p:txBody>
          <a:bodyPr wrap="none" lIns="0" tIns="0" rIns="0" bIns="0" rtlCol="0" anchor="ctr">
            <a:normAutofit/>
          </a:bodyPr>
          <a:lstStyle/>
          <a:p>
            <a:pPr marL="0" indent="0" algn="ctr">
              <a:lnSpc>
                <a:spcPts val="2240"/>
              </a:lnSpc>
              <a:buNone/>
            </a:pPr>
            <a:r>
              <a:rPr lang="en-US" sz="1600" b="1" dirty="0">
                <a:solidFill>
                  <a:srgbClr val="F7F6FC"/>
                </a:solidFill>
                <a:latin typeface="Barlow" pitchFamily="34" charset="0"/>
                <a:ea typeface="Barlow" pitchFamily="34" charset="-122"/>
                <a:cs typeface="Barlow" pitchFamily="34" charset="-120"/>
              </a:rPr>
              <a:t>Iniciar capacitación</a:t>
            </a:r>
            <a:endParaRPr lang="en-US" sz="1600" dirty="0"/>
          </a:p>
        </p:txBody>
      </p:sp>
      <p:sp>
        <p:nvSpPr>
          <p:cNvPr id="9" name="Text 6"/>
          <p:cNvSpPr/>
          <p:nvPr/>
        </p:nvSpPr>
        <p:spPr>
          <a:xfrm>
            <a:off x="812800" y="4406900"/>
            <a:ext cx="7194550" cy="5943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B9B4E0"/>
                </a:solidFill>
                <a:latin typeface="Barlow" pitchFamily="34" charset="0"/>
                <a:ea typeface="Barlow" pitchFamily="34" charset="-122"/>
                <a:cs typeface="Barlow" pitchFamily="34" charset="-120"/>
              </a:rPr>
              <a:t>Tomate el tiempo que necesites. Podés cambiar de itinerario o salir de la guía cuando quieras.</a:t>
            </a:r>
            <a:endParaRPr lang="en-US" sz="1600" dirty="0"/>
          </a:p>
        </p:txBody>
      </p:sp>
      <p:sp>
        <p:nvSpPr>
          <p:cNvPr id="10" name="Text 7"/>
          <p:cNvSpPr/>
          <p:nvPr/>
        </p:nvSpPr>
        <p:spPr>
          <a:xfrm>
            <a:off x="812800" y="6238242"/>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9B4E0"/>
                </a:solidFill>
                <a:latin typeface="Barlow" pitchFamily="34" charset="0"/>
                <a:ea typeface="Barlow" pitchFamily="34" charset="-122"/>
                <a:cs typeface="Barlow" pitchFamily="34" charset="-120"/>
              </a:rPr>
              <a:t>Comunicación Multimedial en el Desarrollo de Sistemas de Información · UTN-FRC · 2026</a:t>
            </a:r>
            <a:endParaRPr lang="en-US" sz="1200" dirty="0"/>
          </a:p>
        </p:txBody>
      </p:sp>
    </p:spTree>
  </p:cSld>
  <p:clrMapOvr>
    <a:masterClrMapping/>
  </p:clrMapOvr>
</p:sld>
</file>

<file path=ppt/theme/theme1.xml><?xml version="1.0" encoding="utf-8"?>
<a:theme xmlns:a="http://schemas.openxmlformats.org/drawingml/2006/main" name="Antes de empezar — Capacitación IOL">
  <a:themeElements>
    <a:clrScheme name="Antes de empezar — Capacitación IOL">
      <a:dk1>
        <a:srgbClr val="06083F"/>
      </a:dk1>
      <a:lt1>
        <a:srgbClr val="F7F6FC"/>
      </a:lt1>
      <a:dk2>
        <a:srgbClr val="42446E"/>
      </a:dk2>
      <a:lt2>
        <a:srgbClr val="DFDEE9"/>
      </a:lt2>
      <a:accent1>
        <a:srgbClr val="6439FF"/>
      </a:accent1>
      <a:accent2>
        <a:srgbClr val="5B5C8C"/>
      </a:accent2>
      <a:accent3>
        <a:srgbClr val="4A4B78"/>
      </a:accent3>
      <a:accent4>
        <a:srgbClr val="B9B4E0"/>
      </a:accent4>
      <a:accent5>
        <a:srgbClr val="E8B23A"/>
      </a:accent5>
      <a:accent6>
        <a:srgbClr val="3D1B88"/>
      </a:accent6>
      <a:hlink>
        <a:srgbClr val="0563C1"/>
      </a:hlink>
      <a:folHlink>
        <a:srgbClr val="954F72"/>
      </a:folHlink>
    </a:clrScheme>
    <a:fontScheme name="Antes de empezar — Capacitación IOL">
      <a:majorFont>
        <a:latin typeface="Barlow"/>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Barlow"/>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TotalTime>
  <Words>2236</Words>
  <Application>Microsoft Office PowerPoint</Application>
  <PresentationFormat>Panorámica</PresentationFormat>
  <Paragraphs>202</Paragraphs>
  <Slides>11</Slides>
  <Notes>11</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11</vt:i4>
      </vt:variant>
    </vt:vector>
  </HeadingPairs>
  <TitlesOfParts>
    <vt:vector size="15" baseType="lpstr">
      <vt:lpstr>Arial</vt:lpstr>
      <vt:lpstr>Barlow</vt:lpstr>
      <vt:lpstr>IBM Plex Mono</vt:lpstr>
      <vt:lpstr>Antes de empezar — Capacitación IOL</vt:lpstr>
      <vt:lpstr>Antes de empezar</vt:lpstr>
      <vt:lpstr>En esta guía</vt:lpstr>
      <vt:lpstr>Acá aprendés a usar la aplicación, no a elegir en qué invertir</vt:lpstr>
      <vt:lpstr>El ciclo completo de una inversión</vt:lpstr>
      <vt:lpstr>Lo que queda afuera</vt:lpstr>
      <vt:lpstr>Tu plata puede estar en tres lugares</vt:lpstr>
      <vt:lpstr>Elegí tu itinerario</vt:lpstr>
      <vt:lpstr>La guía te va llevando de la mano</vt:lpstr>
      <vt:lpstr>Algunos errores son a propósito</vt:lpstr>
      <vt:lpstr>Además del simulador</vt:lpstr>
      <vt:lpstr>¿Arrancamos?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Antes de empezar — Capacitación IOL</dc:title>
  <dc:subject/>
  <dc:creator/>
  <cp:lastModifiedBy>Gabriel Schurrer</cp:lastModifiedBy>
  <cp:revision>1</cp:revision>
  <dcterms:created xsi:type="dcterms:W3CDTF">2026-10-09T22:03:14Z</dcterms:created>
  <dcterms:modified xsi:type="dcterms:W3CDTF">2026-10-09T22:17:55Z</dcterms:modified>
</cp:coreProperties>
</file>